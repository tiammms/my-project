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cad8bc0-3575-895d-2c8a-531b316832ae}">
          <p14:sldIdLst>
            <p14:sldId id="256"/>
            <p14:sldId id="257"/>
            <p14:sldId id="258"/>
          </p14:sldIdLst>
        </p14:section>
        <p14:section name="Решение" id="{60c41392-dc3e-2dc6-36cf-9ac14e9f568f}">
          <p14:sldIdLst>
            <p14:sldId id="259"/>
            <p14:sldId id="260"/>
            <p14:sldId id="261"/>
          </p14:sldIdLst>
        </p14:section>
        <p14:section name="Демонстрация и результаты" id="{989743b6-d6e6-72f2-9692-21a1bad3ef4c}">
          <p14:sldIdLst>
            <p14:sldId id="262"/>
            <p14:sldId id="263"/>
            <p14:sldId id="264"/>
          </p14:sldIdLst>
        </p14:section>
        <p14:section name="Бизнес и ограничения" id="{a221baef-c428-cd51-4015-2e764a9ea6f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6EDF5"/>
                </a:solidFill>
                <a:latin typeface="+mn-lt"/>
              </a:rPr>
              <a:t>Абляция: PR-AUC на тесте без одного компонента (ось с 0,6)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D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Полная модель</c:v>
                  </c:pt>
                  <c:pt idx="1">
                    <c:v>без поведения</c:v>
                  </c:pt>
                  <c:pt idx="2">
                    <c:v>без графа</c:v>
                  </c:pt>
                  <c:pt idx="3">
                    <c:v>без соц. инженерии</c:v>
                  </c:pt>
                  <c:pt idx="4">
                    <c:v>без репутации получателя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0.879</c:v>
                </c:pt>
                <c:pt idx="1">
                  <c:v>0.822</c:v>
                </c:pt>
                <c:pt idx="2">
                  <c:v>0.832</c:v>
                </c:pt>
                <c:pt idx="3">
                  <c:v>0.861</c:v>
                </c:pt>
                <c:pt idx="4">
                  <c:v>0.857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E6ED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8B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9525" cap="flat">
              <a:solidFill>
                <a:srgbClr val="26303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8B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6EDF5"/>
                </a:solidFill>
                <a:latin typeface="+mn-lt"/>
              </a:rPr>
              <a:t>ROC-AUC и PR-AUC: 6 систем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9085E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Правила</c:v>
                  </c:pt>
                  <c:pt idx="1">
                    <c:v>LR, транзакции</c:v>
                  </c:pt>
                  <c:pt idx="2">
                    <c:v>Бустинг, транзакции</c:v>
                  </c:pt>
                  <c:pt idx="3">
                    <c:v>LR, гибрид</c:v>
                  </c:pt>
                  <c:pt idx="4">
                    <c:v>Лес, гибрид</c:v>
                  </c:pt>
                  <c:pt idx="5">
                    <c:v>NeuroShield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0.857</c:v>
                </c:pt>
                <c:pt idx="1">
                  <c:v>0.934</c:v>
                </c:pt>
                <c:pt idx="2">
                  <c:v>0.946</c:v>
                </c:pt>
                <c:pt idx="3">
                  <c:v>0.983</c:v>
                </c:pt>
                <c:pt idx="4">
                  <c:v>0.983</c:v>
                </c:pt>
                <c:pt idx="5">
                  <c:v>0.99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Правила</c:v>
                  </c:pt>
                  <c:pt idx="1">
                    <c:v>LR, транзакции</c:v>
                  </c:pt>
                  <c:pt idx="2">
                    <c:v>Бустинг, транзакции</c:v>
                  </c:pt>
                  <c:pt idx="3">
                    <c:v>LR, гибрид</c:v>
                  </c:pt>
                  <c:pt idx="4">
                    <c:v>Лес, гибрид</c:v>
                  </c:pt>
                  <c:pt idx="5">
                    <c:v>NeuroShield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0.185</c:v>
                </c:pt>
                <c:pt idx="1">
                  <c:v>0.41</c:v>
                </c:pt>
                <c:pt idx="2">
                  <c:v>0.537</c:v>
                </c:pt>
                <c:pt idx="3">
                  <c:v>0.768</c:v>
                </c:pt>
                <c:pt idx="4">
                  <c:v>0.85</c:v>
                </c:pt>
                <c:pt idx="5">
                  <c:v>0.879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E6ED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8B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9525" cap="flat">
              <a:solidFill>
                <a:srgbClr val="26303D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8B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6EDF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6EDF5"/>
                </a:solidFill>
                <a:latin typeface="+mn-lt"/>
              </a:rPr>
              <a:t>млрд ₸ в год, по сценариям допущений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Предотвращённые потери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Консервативный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0.2</c:v>
                </c:pt>
                <c:pt idx="2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Экономия на ложных тревогах</c:v>
                </c:pt>
              </c:strCache>
            </c:strRef>
          </c:tx>
          <c:spPr>
            <a:solidFill>
              <a:srgbClr val="199E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Консервативный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0.02</c:v>
                </c:pt>
                <c:pt idx="1">
                  <c:v>0.11</c:v>
                </c:pt>
                <c:pt idx="2">
                  <c:v>0.37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Затраты</c:v>
                </c:pt>
              </c:strCache>
            </c:strRef>
          </c:tx>
          <c:spPr>
            <a:solidFill>
              <a:srgbClr val="D9592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Консервативный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-0.21</c:v>
                </c:pt>
                <c:pt idx="1">
                  <c:v>-0.17</c:v>
                </c:pt>
                <c:pt idx="2">
                  <c:v>-0.14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Чистый эффект</c:v>
                </c:pt>
              </c:strCache>
            </c:strRef>
          </c:tx>
          <c:spPr>
            <a:solidFill>
              <a:srgbClr val="E6EDF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Консервативный</c:v>
                  </c:pt>
                  <c:pt idx="1">
                    <c:v>Базовый</c:v>
                  </c:pt>
                  <c:pt idx="2">
                    <c:v>Оптимистичный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-0.19</c:v>
                </c:pt>
                <c:pt idx="1">
                  <c:v>0.14</c:v>
                </c:pt>
                <c:pt idx="2">
                  <c:v>2.73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E6EDF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8B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6303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8B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6EDF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сделали работающий прототип, который не просто говорит «мошенничество или нет», а оценивает риск, объясняет почему и предлагает соразмерное действие. Всё, что вы увидите, работает локально и проверено тестами; данные синтетические.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тяжёлый случай — когда деньги переводит сам клиент: пароль верный, устройство его. Правило видит обычный перевод. А когда правила ужесточают, страдают честные клиенты. Мулы по отдельности выглядят нормально — подозрительна только структура переводов.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утверждаем, что все банковские системы устарели. Мы сравниваем с конкретным, явно описанным набором из восьми правил, включая чёрный список получателей. Правила ловят две трети мошенничества, но мулов — лишь 41%, и почти 70% крупных честных покупок попадают под подозрение.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блокируем всё подозрительное. Четыре независимых сигнала, обученная модель их совмещает, а политика выбирает соразмерное действие. Большинство сомнительных случаев — это мягкое подтверждение, а не блокировка. Решение о блокировке реального платежа всегда остаётся за банком.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процесс на одном порту раздаёт и API, и дашборд — меньше точек отказа на демонстрации. Признаки считаются одним и тем же кодом при обучении и в API — это проверяет отдельный тест, поэтому модель в работе видит то же, что видела при обучении. Стек: Starlette и Pydantic, scikit-learn, NetworkX, SQLite, React с TypeScript.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Абляция: переобучаем модель без одного компонента. PR-AUC падает с 0,879 до 0,822 без поведенческого компонента — это самый большой вклад. Ось начинается с 0,6, чтобы различия были видны.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A: перевод сестре — 0,01 · LOW, разрешить. Сценарий B: 450 тысяч новому получателю во время звонка, клиент говорит, что его попросили — 97,2 · HIGH, проверка аналитиком. Объяснение называет причины: паузы на 9 стандартных отклонений дольше её нормы, получателю 9 дней, он связан с подтверждённой жалобой. А путешествие, новый телефон и крупная покупка в высокий риск не попадают.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специально закрыли утечки: признаки строятся только из прошлого, жалобы на мошенничество приходят с задержкой, модель и пороги выбраны только на validation, test использован один раз. Мы нашли и исправили баг с окном «24 часа», которое считало 24 дня, и пересчитали всё после исправления.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тесте гибрид даёт ROC-AUC 0,990 и PR-AUC 0,879 против 0,185 у правил. При одинаковом recall ложных тревог в 65 раз меньше. Цели 0,94 по ROC-AUC и минус 35% FPR на синтетике перевыполнены. Но это синтетика — дальше я покажу, почему в экономику мы эти цифры 1:1 не переносим.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Формула: предотвращённые потери плюс экономия на ложных срабатываниях минус инфраструктура, интеграция и эксплуатация. Правилам мы даём ту же многоуровневую обработку, что и модели, чтобы засчитать модели только её собственный вклад. Модельные метрики не равны экономии: для небольшого банка проект не окупается, главный рычаг — объём операций.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храним персональные данные, не читаем переписку и не слушаем звонки: модель знает только, был ли звонок, и только с согласия. Слабые стороны мы проверили сами. Переводы на новые счета: нашли и исправили две ошибки измерения, а оставшийся разрыв — это выбор политики, он вынесен в настройки. Подстраивающийся мошенник: скрыв один сигнал, он снижает выявление на несколько процентных пунктов; скрыв все сразу — неотличим от клиента, как и для любой системы. Нагрузка: около 90 запросов в секунду на одном процессе.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говорим, что система готова для банка. Мы показываем, как её проверить на настоящих данных и по каким критериям решать, идти ли дальше: сначала повтор на истории банка, затем shadow mode без влияния на платежи, пилот с контрольной группой и только потом постепенный запуск.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S_TITLE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S_CONTENT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NeuroShield · исследовательский прототип · синтетические данные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NeuroShield API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1546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Объяснимая AI-платформа оценки риска мошенничества в переводах</a:t>
            </a:r>
            <a:endParaRPr lang="en-US" sz="18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2CC5B0"/>
                </a:solidFill>
              </a:rPr>
              <a:t>Detect risk. Understand behavior. Protect every transaction.</a:t>
            </a:r>
            <a:endParaRPr lang="en-US" sz="1800" dirty="0"/>
          </a:p>
        </p:txBody>
      </p:sp>
      <p:sp>
        <p:nvSpPr>
          <p:cNvPr id="5" name="disclaimer"/>
          <p:cNvSpPr txBox="1"/>
          <p:nvPr/>
        </p:nvSpPr>
        <p:spPr>
          <a:xfrm>
            <a:off x="640080" y="5989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Исследовательский прототип · синтетические данные · не подключён к банкам</a:t>
            </a:r>
            <a:endParaRPr lang="en-US" sz="1200" dirty="0"/>
          </a:p>
        </p:txBody>
      </p:sp>
      <p:sp>
        <p:nvSpPr>
          <p:cNvPr id="6" name="dashboard screenshot frame"/>
          <p:cNvSpPr/>
          <p:nvPr/>
        </p:nvSpPr>
        <p:spPr>
          <a:xfrm>
            <a:off x="6848856" y="1362456"/>
            <a:ext cx="4864608" cy="2627503"/>
          </a:xfrm>
          <a:prstGeom prst="roundRect">
            <a:avLst>
              <a:gd name="adj" fmla="val 3480"/>
            </a:avLst>
          </a:prstGeom>
          <a:solidFill>
            <a:srgbClr val="1C2532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dashboard screenshot" descr="/home/claude/neuroshield/presentation/assets/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17320"/>
            <a:ext cx="4754880" cy="2517775"/>
          </a:xfrm>
          <a:prstGeom prst="rect">
            <a:avLst/>
          </a:prstGeom>
        </p:spPr>
      </p:pic>
      <p:sp>
        <p:nvSpPr>
          <p:cNvPr id="8" name="screenshot caption"/>
          <p:cNvSpPr txBox="1"/>
          <p:nvPr/>
        </p:nvSpPr>
        <p:spPr>
          <a:xfrm>
            <a:off x="690372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Работающий MVP: API + дашборд + ML-эксперимент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Почему правил уже недостаточно</a:t>
            </a:r>
            <a:endParaRPr lang="en-US" sz="3200" dirty="0"/>
          </a:p>
        </p:txBody>
      </p:sp>
      <p:sp>
        <p:nvSpPr>
          <p:cNvPr id="3" name="problem 1"/>
          <p:cNvSpPr/>
          <p:nvPr/>
        </p:nvSpPr>
        <p:spPr>
          <a:xfrm>
            <a:off x="548640" y="14173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4" name="problem icon 1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5" name="problem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52574"/>
            <a:ext cx="409651" cy="409651"/>
          </a:xfrm>
          <a:prstGeom prst="rect">
            <a:avLst/>
          </a:prstGeom>
        </p:spPr>
      </p:pic>
      <p:sp>
        <p:nvSpPr>
          <p:cNvPr id="6" name="problem title 1"/>
          <p:cNvSpPr txBox="1"/>
          <p:nvPr/>
        </p:nvSpPr>
        <p:spPr>
          <a:xfrm>
            <a:off x="82296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5"/>
                </a:solidFill>
              </a:rPr>
              <a:t>Ложные тревоги</a:t>
            </a:r>
            <a:endParaRPr lang="en-US" sz="20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822960" y="3429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A"/>
                </a:solidFill>
              </a:rPr>
              <a:t>Чтобы ловить больше, правила ужесточают — и под проверку попадают путешественники, крупные покупки, новые телефоны.</a:t>
            </a:r>
            <a:endParaRPr lang="en-US" sz="1400" dirty="0"/>
          </a:p>
        </p:txBody>
      </p:sp>
      <p:sp>
        <p:nvSpPr>
          <p:cNvPr id="8" name="problem 2"/>
          <p:cNvSpPr/>
          <p:nvPr/>
        </p:nvSpPr>
        <p:spPr>
          <a:xfrm>
            <a:off x="3355848" y="14173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9" name="problem icon 2 circle"/>
          <p:cNvSpPr/>
          <p:nvPr/>
        </p:nvSpPr>
        <p:spPr>
          <a:xfrm>
            <a:off x="3630168" y="1691640"/>
            <a:ext cx="731520" cy="73152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0" name="problem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102" y="1852574"/>
            <a:ext cx="409651" cy="409651"/>
          </a:xfrm>
          <a:prstGeom prst="rect">
            <a:avLst/>
          </a:prstGeom>
        </p:spPr>
      </p:pic>
      <p:sp>
        <p:nvSpPr>
          <p:cNvPr id="11" name="problem title 2"/>
          <p:cNvSpPr txBox="1"/>
          <p:nvPr/>
        </p:nvSpPr>
        <p:spPr>
          <a:xfrm>
            <a:off x="3630168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5"/>
                </a:solidFill>
              </a:rPr>
              <a:t>Клиент переводит сам</a:t>
            </a:r>
            <a:endParaRPr lang="en-US" sz="20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3630168" y="3429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A"/>
                </a:solidFill>
              </a:rPr>
              <a:t>При социальной инженерии пароль верный и устройство своё. Для правил это обычный перевод — подозрителен только контекст.</a:t>
            </a:r>
            <a:endParaRPr lang="en-US" sz="1400" dirty="0"/>
          </a:p>
        </p:txBody>
      </p:sp>
      <p:sp>
        <p:nvSpPr>
          <p:cNvPr id="13" name="problem 3"/>
          <p:cNvSpPr/>
          <p:nvPr/>
        </p:nvSpPr>
        <p:spPr>
          <a:xfrm>
            <a:off x="6163056" y="14173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4" name="problem icon 3 circle"/>
          <p:cNvSpPr/>
          <p:nvPr/>
        </p:nvSpPr>
        <p:spPr>
          <a:xfrm>
            <a:off x="6437376" y="1691640"/>
            <a:ext cx="731520" cy="73152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5" name="problem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1852574"/>
            <a:ext cx="409651" cy="409651"/>
          </a:xfrm>
          <a:prstGeom prst="rect">
            <a:avLst/>
          </a:prstGeom>
        </p:spPr>
      </p:pic>
      <p:sp>
        <p:nvSpPr>
          <p:cNvPr id="16" name="problem title 3"/>
          <p:cNvSpPr txBox="1"/>
          <p:nvPr/>
        </p:nvSpPr>
        <p:spPr>
          <a:xfrm>
            <a:off x="6437376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5"/>
                </a:solidFill>
              </a:rPr>
              <a:t>Сети мулов</a:t>
            </a:r>
            <a:endParaRPr lang="en-US" sz="20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6437376" y="3429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A"/>
                </a:solidFill>
              </a:rPr>
              <a:t>Каждый счёт по отдельности выглядит нормально. Видна только структура: деньги от многих людей и сразу дальше.</a:t>
            </a:r>
            <a:endParaRPr lang="en-US" sz="1400" dirty="0"/>
          </a:p>
        </p:txBody>
      </p:sp>
      <p:sp>
        <p:nvSpPr>
          <p:cNvPr id="18" name="problem 4"/>
          <p:cNvSpPr/>
          <p:nvPr/>
        </p:nvSpPr>
        <p:spPr>
          <a:xfrm>
            <a:off x="8970264" y="141732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9" name="problem icon 4 circle"/>
          <p:cNvSpPr/>
          <p:nvPr/>
        </p:nvSpPr>
        <p:spPr>
          <a:xfrm>
            <a:off x="9244584" y="1691640"/>
            <a:ext cx="731520" cy="73152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20" name="problem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518" y="1852574"/>
            <a:ext cx="409651" cy="409651"/>
          </a:xfrm>
          <a:prstGeom prst="rect">
            <a:avLst/>
          </a:prstGeom>
        </p:spPr>
      </p:pic>
      <p:sp>
        <p:nvSpPr>
          <p:cNvPr id="21" name="problem title 4"/>
          <p:cNvSpPr txBox="1"/>
          <p:nvPr/>
        </p:nvSpPr>
        <p:spPr>
          <a:xfrm>
            <a:off x="9244584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5"/>
                </a:solidFill>
              </a:rPr>
              <a:t>Нет объяснений</a:t>
            </a:r>
            <a:endParaRPr lang="en-US" sz="2000" dirty="0"/>
          </a:p>
        </p:txBody>
      </p:sp>
      <p:sp>
        <p:nvSpPr>
          <p:cNvPr id="22" name="problem text 4"/>
          <p:cNvSpPr txBox="1"/>
          <p:nvPr/>
        </p:nvSpPr>
        <p:spPr>
          <a:xfrm>
            <a:off x="9244584" y="3429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A"/>
                </a:solidFill>
              </a:rPr>
              <a:t>Аналитик видит «сработало правило R4», но не понимает, что изменилось в поведении клиента и почему это опасно.</a:t>
            </a:r>
            <a:endParaRPr lang="en-US" sz="1400" dirty="0"/>
          </a:p>
        </p:txBody>
      </p:sp>
      <p:sp>
        <p:nvSpPr>
          <p:cNvPr id="23" name="goal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CC5B0"/>
                </a:solidFill>
              </a:rPr>
              <a:t>Задача: оценивать риск, объяснять факторы и выбирать соразмерную проверку — а не просто блокировать.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Baseline: 8 явных правил, включая чёрный список</a:t>
            </a:r>
            <a:endParaRPr lang="en-US" sz="3200" dirty="0"/>
          </a:p>
        </p:txBody>
      </p:sp>
      <p:graphicFrame>
        <p:nvGraphicFramePr>
          <p:cNvPr id="4" name="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4114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8BA"/>
                          </a:solidFill>
                        </a:rPr>
                        <a:t>Правило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8BA"/>
                          </a:solidFill>
                        </a:rPr>
                        <a:t>Баллы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A8BA"/>
                          </a:solidFill>
                        </a:rPr>
                        <a:t>Условие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C5B0"/>
                          </a:solidFill>
                        </a:rPr>
                        <a:t>R1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Amount &gt;= 250,000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C5B0"/>
                          </a:solidFill>
                        </a:rPr>
                        <a:t>R2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New recipient and amount &gt;= 60,000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C5B0"/>
                          </a:solidFill>
                        </a:rPr>
                        <a:t>R3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3 or more transactions in the last hour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C5B0"/>
                          </a:solidFill>
                        </a:rPr>
                        <a:t>R4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New device and amount &gt;= 50,000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C5B0"/>
                          </a:solidFill>
                        </a:rPr>
                        <a:t>R5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Unusual location on an international transfer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C5B0"/>
                          </a:solidFill>
                        </a:rPr>
                        <a:t>R6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Night time (00-05) and amount &gt;= 50,000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C5B0"/>
                          </a:solidFill>
                        </a:rPr>
                        <a:t>R7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Amount &gt; 3 std above customer's usual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C5B0"/>
                          </a:solidFill>
                        </a:rPr>
                        <a:t>R8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DF5"/>
                          </a:solidFill>
                        </a:rPr>
                        <a:t>Recipient is on the confirmed-fraud report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6"/>
                    </a:solidFill>
                  </a:tcPr>
                </a:tc>
              </a:tr>
            </a:tbl>
          </a:graphicData>
        </a:graphic>
      </p:graphicFrame>
      <p:sp>
        <p:nvSpPr>
          <p:cNvPr id="4" name="rule note"/>
          <p:cNvSpPr txBox="1"/>
          <p:nvPr/>
        </p:nvSpPr>
        <p:spPr>
          <a:xfrm>
            <a:off x="548640" y="4983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Флаг при ≥ 2 баллах. Всё сработавшее идёт на ручную проверку.</a:t>
            </a:r>
            <a:endParaRPr lang="en-US" sz="1200" dirty="0"/>
          </a:p>
        </p:txBody>
      </p:sp>
      <p:sp>
        <p:nvSpPr>
          <p:cNvPr id="5" name="recall card"/>
          <p:cNvSpPr/>
          <p:nvPr/>
        </p:nvSpPr>
        <p:spPr>
          <a:xfrm>
            <a:off x="6766560" y="13716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6" name="recall value"/>
          <p:cNvSpPr txBox="1"/>
          <p:nvPr/>
        </p:nvSpPr>
        <p:spPr>
          <a:xfrm>
            <a:off x="6995160" y="15361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B219"/>
                </a:solidFill>
              </a:rPr>
              <a:t>66,8%</a:t>
            </a:r>
            <a:endParaRPr lang="en-US" sz="3600" dirty="0"/>
          </a:p>
        </p:txBody>
      </p:sp>
      <p:sp>
        <p:nvSpPr>
          <p:cNvPr id="7" name="recall label"/>
          <p:cNvSpPr txBox="1"/>
          <p:nvPr/>
        </p:nvSpPr>
        <p:spPr>
          <a:xfrm>
            <a:off x="6995160" y="21579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ловит мошенничества (recall)</a:t>
            </a:r>
            <a:endParaRPr lang="en-US" sz="1100" dirty="0"/>
          </a:p>
        </p:txBody>
      </p:sp>
      <p:sp>
        <p:nvSpPr>
          <p:cNvPr id="8" name="fpr card"/>
          <p:cNvSpPr/>
          <p:nvPr/>
        </p:nvSpPr>
        <p:spPr>
          <a:xfrm>
            <a:off x="9281160" y="13716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9" name="fpr value"/>
          <p:cNvSpPr txBox="1"/>
          <p:nvPr/>
        </p:nvSpPr>
        <p:spPr>
          <a:xfrm>
            <a:off x="9509760" y="15361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5252"/>
                </a:solidFill>
              </a:rPr>
              <a:t>4,78%</a:t>
            </a:r>
            <a:endParaRPr lang="en-US" sz="3600" dirty="0"/>
          </a:p>
        </p:txBody>
      </p:sp>
      <p:sp>
        <p:nvSpPr>
          <p:cNvPr id="10" name="fpr label"/>
          <p:cNvSpPr txBox="1"/>
          <p:nvPr/>
        </p:nvSpPr>
        <p:spPr>
          <a:xfrm>
            <a:off x="9509760" y="21579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честных переводов — ложная тревога</a:t>
            </a:r>
            <a:endParaRPr lang="en-US" sz="1100" dirty="0"/>
          </a:p>
        </p:txBody>
      </p:sp>
      <p:sp>
        <p:nvSpPr>
          <p:cNvPr id="11" name="precision card"/>
          <p:cNvSpPr/>
          <p:nvPr/>
        </p:nvSpPr>
        <p:spPr>
          <a:xfrm>
            <a:off x="6766560" y="283464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2" name="precision value"/>
          <p:cNvSpPr txBox="1"/>
          <p:nvPr/>
        </p:nvSpPr>
        <p:spPr>
          <a:xfrm>
            <a:off x="6995160" y="29992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B219"/>
                </a:solidFill>
              </a:rPr>
              <a:t>22,5%</a:t>
            </a:r>
            <a:endParaRPr lang="en-US" sz="3600" dirty="0"/>
          </a:p>
        </p:txBody>
      </p:sp>
      <p:sp>
        <p:nvSpPr>
          <p:cNvPr id="13" name="precision label"/>
          <p:cNvSpPr txBox="1"/>
          <p:nvPr/>
        </p:nvSpPr>
        <p:spPr>
          <a:xfrm>
            <a:off x="6995160" y="36210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алертов — действительно мошенничество</a:t>
            </a:r>
            <a:endParaRPr lang="en-US" sz="1100" dirty="0"/>
          </a:p>
        </p:txBody>
      </p:sp>
      <p:sp>
        <p:nvSpPr>
          <p:cNvPr id="14" name="mule card"/>
          <p:cNvSpPr/>
          <p:nvPr/>
        </p:nvSpPr>
        <p:spPr>
          <a:xfrm>
            <a:off x="9281160" y="283464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5" name="mule value"/>
          <p:cNvSpPr txBox="1"/>
          <p:nvPr/>
        </p:nvSpPr>
        <p:spPr>
          <a:xfrm>
            <a:off x="9509760" y="29992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5252"/>
                </a:solidFill>
              </a:rPr>
              <a:t>41%</a:t>
            </a:r>
            <a:endParaRPr lang="en-US" sz="3600" dirty="0"/>
          </a:p>
        </p:txBody>
      </p:sp>
      <p:sp>
        <p:nvSpPr>
          <p:cNvPr id="16" name="mule label"/>
          <p:cNvSpPr txBox="1"/>
          <p:nvPr/>
        </p:nvSpPr>
        <p:spPr>
          <a:xfrm>
            <a:off x="9509760" y="36210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переводов мулов замечено</a:t>
            </a:r>
            <a:endParaRPr lang="en-US" sz="1100" dirty="0"/>
          </a:p>
        </p:txBody>
      </p:sp>
      <p:sp>
        <p:nvSpPr>
          <p:cNvPr id="17" name="bigpurchase card"/>
          <p:cNvSpPr/>
          <p:nvPr/>
        </p:nvSpPr>
        <p:spPr>
          <a:xfrm>
            <a:off x="6766560" y="4297680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8" name="bigpurchase value"/>
          <p:cNvSpPr txBox="1"/>
          <p:nvPr/>
        </p:nvSpPr>
        <p:spPr>
          <a:xfrm>
            <a:off x="6995160" y="446227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5252"/>
                </a:solidFill>
              </a:rPr>
              <a:t>68,7%</a:t>
            </a:r>
            <a:endParaRPr lang="en-US" sz="3600" dirty="0"/>
          </a:p>
        </p:txBody>
      </p:sp>
      <p:sp>
        <p:nvSpPr>
          <p:cNvPr id="19" name="bigpurchase label"/>
          <p:cNvSpPr txBox="1"/>
          <p:nvPr/>
        </p:nvSpPr>
        <p:spPr>
          <a:xfrm>
            <a:off x="6995160" y="5084064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крупных честных покупок помечены как подозрительные</a:t>
            </a:r>
            <a:endParaRPr lang="en-US" sz="1200" dirty="0"/>
          </a:p>
        </p:txBody>
      </p:sp>
      <p:sp>
        <p:nvSpPr>
          <p:cNvPr id="20" name="baseline source"/>
          <p:cNvSpPr txBox="1"/>
          <p:nvPr/>
        </p:nvSpPr>
        <p:spPr>
          <a:xfrm>
            <a:off x="6766560" y="57607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Тестовый период синтетического набора: 13 909 переводов, 283 мошеннических.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Решение: 4 сигнала → модель → соразмерное действие</a:t>
            </a:r>
            <a:endParaRPr lang="en-US" sz="3200" dirty="0"/>
          </a:p>
        </p:txBody>
      </p:sp>
      <p:sp>
        <p:nvSpPr>
          <p:cNvPr id="3" name="signal 1"/>
          <p:cNvSpPr/>
          <p:nvPr/>
        </p:nvSpPr>
        <p:spPr>
          <a:xfrm>
            <a:off x="548640" y="1325880"/>
            <a:ext cx="4206240" cy="1078992"/>
          </a:xfrm>
          <a:prstGeom prst="roundRect">
            <a:avLst>
              <a:gd name="adj" fmla="val 10169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4" name="signal icon 1 circle"/>
          <p:cNvSpPr/>
          <p:nvPr/>
        </p:nvSpPr>
        <p:spPr>
          <a:xfrm>
            <a:off x="731520" y="1581912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5" name="signal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1706636"/>
            <a:ext cx="317480" cy="317480"/>
          </a:xfrm>
          <a:prstGeom prst="rect">
            <a:avLst/>
          </a:prstGeom>
        </p:spPr>
      </p:pic>
      <p:sp>
        <p:nvSpPr>
          <p:cNvPr id="6" name="signal title 1"/>
          <p:cNvSpPr txBox="1"/>
          <p:nvPr/>
        </p:nvSpPr>
        <p:spPr>
          <a:xfrm>
            <a:off x="1463040" y="14538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5"/>
                </a:solidFill>
              </a:rPr>
              <a:t>Транзакция</a:t>
            </a:r>
            <a:endParaRPr lang="en-US" sz="1600" dirty="0"/>
          </a:p>
        </p:txBody>
      </p:sp>
      <p:sp>
        <p:nvSpPr>
          <p:cNvPr id="7" name="signal text 1"/>
          <p:cNvSpPr txBox="1"/>
          <p:nvPr/>
        </p:nvSpPr>
        <p:spPr>
          <a:xfrm>
            <a:off x="1463040" y="180136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сумма vs норма клиента, время, скорость, новый получатель, устройство</a:t>
            </a:r>
            <a:endParaRPr lang="en-US" sz="1200" dirty="0"/>
          </a:p>
        </p:txBody>
      </p:sp>
      <p:sp>
        <p:nvSpPr>
          <p:cNvPr id="8" name="signal 2"/>
          <p:cNvSpPr/>
          <p:nvPr/>
        </p:nvSpPr>
        <p:spPr>
          <a:xfrm>
            <a:off x="548640" y="2542032"/>
            <a:ext cx="4206240" cy="1078992"/>
          </a:xfrm>
          <a:prstGeom prst="roundRect">
            <a:avLst>
              <a:gd name="adj" fmla="val 10169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9" name="signal icon 2 circle"/>
          <p:cNvSpPr/>
          <p:nvPr/>
        </p:nvSpPr>
        <p:spPr>
          <a:xfrm>
            <a:off x="731520" y="2798064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0" name="signal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44" y="2922788"/>
            <a:ext cx="317480" cy="317480"/>
          </a:xfrm>
          <a:prstGeom prst="rect">
            <a:avLst/>
          </a:prstGeom>
        </p:spPr>
      </p:pic>
      <p:sp>
        <p:nvSpPr>
          <p:cNvPr id="11" name="signal title 2"/>
          <p:cNvSpPr txBox="1"/>
          <p:nvPr/>
        </p:nvSpPr>
        <p:spPr>
          <a:xfrm>
            <a:off x="1463040" y="26700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5"/>
                </a:solidFill>
              </a:rPr>
              <a:t>Поведение</a:t>
            </a:r>
            <a:endParaRPr lang="en-US" sz="1600" dirty="0"/>
          </a:p>
        </p:txBody>
      </p:sp>
      <p:sp>
        <p:nvSpPr>
          <p:cNvPr id="12" name="signal text 2"/>
          <p:cNvSpPr txBox="1"/>
          <p:nvPr/>
        </p:nvSpPr>
        <p:spPr>
          <a:xfrm>
            <a:off x="1463040" y="3017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паузы, исправления, ритм набора — относительно своей нормы, только с согласия</a:t>
            </a:r>
            <a:endParaRPr lang="en-US" sz="1200" dirty="0"/>
          </a:p>
        </p:txBody>
      </p:sp>
      <p:sp>
        <p:nvSpPr>
          <p:cNvPr id="13" name="signal 3"/>
          <p:cNvSpPr/>
          <p:nvPr/>
        </p:nvSpPr>
        <p:spPr>
          <a:xfrm>
            <a:off x="548640" y="3758184"/>
            <a:ext cx="4206240" cy="1078992"/>
          </a:xfrm>
          <a:prstGeom prst="roundRect">
            <a:avLst>
              <a:gd name="adj" fmla="val 10169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4" name="signal icon 3 circle"/>
          <p:cNvSpPr/>
          <p:nvPr/>
        </p:nvSpPr>
        <p:spPr>
          <a:xfrm>
            <a:off x="731520" y="4014216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5" name="signal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4" y="4138940"/>
            <a:ext cx="317480" cy="317480"/>
          </a:xfrm>
          <a:prstGeom prst="rect">
            <a:avLst/>
          </a:prstGeom>
        </p:spPr>
      </p:pic>
      <p:sp>
        <p:nvSpPr>
          <p:cNvPr id="16" name="signal title 3"/>
          <p:cNvSpPr txBox="1"/>
          <p:nvPr/>
        </p:nvSpPr>
        <p:spPr>
          <a:xfrm>
            <a:off x="1463040" y="3886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5"/>
                </a:solidFill>
              </a:rPr>
              <a:t>Граф переводов</a:t>
            </a:r>
            <a:endParaRPr lang="en-US" sz="1600" dirty="0"/>
          </a:p>
        </p:txBody>
      </p:sp>
      <p:sp>
        <p:nvSpPr>
          <p:cNvPr id="17" name="signal text 3"/>
          <p:cNvSpPr txBox="1"/>
          <p:nvPr/>
        </p:nvSpPr>
        <p:spPr>
          <a:xfrm>
            <a:off x="1463040" y="4233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fan-in, быстрая пересылка, связь с подтверждёнными жалобами</a:t>
            </a:r>
            <a:endParaRPr lang="en-US" sz="1200" dirty="0"/>
          </a:p>
        </p:txBody>
      </p:sp>
      <p:sp>
        <p:nvSpPr>
          <p:cNvPr id="18" name="signal 4"/>
          <p:cNvSpPr/>
          <p:nvPr/>
        </p:nvSpPr>
        <p:spPr>
          <a:xfrm>
            <a:off x="548640" y="4974336"/>
            <a:ext cx="4206240" cy="1078992"/>
          </a:xfrm>
          <a:prstGeom prst="roundRect">
            <a:avLst>
              <a:gd name="adj" fmla="val 10169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9" name="signal icon 4 circle"/>
          <p:cNvSpPr/>
          <p:nvPr/>
        </p:nvSpPr>
        <p:spPr>
          <a:xfrm>
            <a:off x="731520" y="5230368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20" name="signal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44" y="5355092"/>
            <a:ext cx="317480" cy="317480"/>
          </a:xfrm>
          <a:prstGeom prst="rect">
            <a:avLst/>
          </a:prstGeom>
        </p:spPr>
      </p:pic>
      <p:sp>
        <p:nvSpPr>
          <p:cNvPr id="21" name="signal title 4"/>
          <p:cNvSpPr txBox="1"/>
          <p:nvPr/>
        </p:nvSpPr>
        <p:spPr>
          <a:xfrm>
            <a:off x="1463040" y="5102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5"/>
                </a:solidFill>
              </a:rPr>
              <a:t>Социальная инженерия</a:t>
            </a:r>
            <a:endParaRPr lang="en-US" sz="1600" dirty="0"/>
          </a:p>
        </p:txBody>
      </p:sp>
      <p:sp>
        <p:nvSpPr>
          <p:cNvPr id="22" name="signal text 4"/>
          <p:cNvSpPr txBox="1"/>
          <p:nvPr/>
        </p:nvSpPr>
        <p:spPr>
          <a:xfrm>
            <a:off x="1463040" y="544982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звонок во время сессии, ответ «меня попросили» — минимум 2 сигнала</a:t>
            </a:r>
            <a:endParaRPr lang="en-US" sz="1200" dirty="0"/>
          </a:p>
        </p:txBody>
      </p:sp>
      <p:sp>
        <p:nvSpPr>
          <p:cNvPr id="23" name="arrow 1"/>
          <p:cNvSpPr/>
          <p:nvPr/>
        </p:nvSpPr>
        <p:spPr>
          <a:xfrm>
            <a:off x="4892040" y="3246120"/>
            <a:ext cx="502920" cy="411480"/>
          </a:xfrm>
          <a:prstGeom prst="rightArrow">
            <a:avLst/>
          </a:prstGeom>
          <a:solidFill>
            <a:srgbClr val="2A3647"/>
          </a:solidFill>
          <a:ln w="12700">
            <a:solidFill>
              <a:srgbClr val="2A3647"/>
            </a:solidFill>
            <a:prstDash val="solid"/>
          </a:ln>
        </p:spPr>
      </p:sp>
      <p:sp>
        <p:nvSpPr>
          <p:cNvPr id="24" name="model card"/>
          <p:cNvSpPr/>
          <p:nvPr/>
        </p:nvSpPr>
        <p:spPr>
          <a:xfrm>
            <a:off x="5532120" y="2240280"/>
            <a:ext cx="2331720" cy="2423160"/>
          </a:xfrm>
          <a:prstGeom prst="roundRect">
            <a:avLst>
              <a:gd name="adj" fmla="val 4706"/>
            </a:avLst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5" name="model icon circle"/>
          <p:cNvSpPr/>
          <p:nvPr/>
        </p:nvSpPr>
        <p:spPr>
          <a:xfrm>
            <a:off x="6382512" y="2468880"/>
            <a:ext cx="640080" cy="64008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26" name="mode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0" y="2609698"/>
            <a:ext cx="358445" cy="358445"/>
          </a:xfrm>
          <a:prstGeom prst="rect">
            <a:avLst/>
          </a:prstGeom>
        </p:spPr>
      </p:pic>
      <p:sp>
        <p:nvSpPr>
          <p:cNvPr id="27" name="model title"/>
          <p:cNvSpPr txBox="1"/>
          <p:nvPr/>
        </p:nvSpPr>
        <p:spPr>
          <a:xfrm>
            <a:off x="5669280" y="3246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DF5"/>
                </a:solidFill>
              </a:rPr>
              <a:t>Гибридная модель</a:t>
            </a:r>
            <a:endParaRPr lang="en-US" sz="1700" dirty="0"/>
          </a:p>
        </p:txBody>
      </p:sp>
      <p:sp>
        <p:nvSpPr>
          <p:cNvPr id="28" name="model text"/>
          <p:cNvSpPr txBox="1"/>
          <p:nvPr/>
        </p:nvSpPr>
        <p:spPr>
          <a:xfrm>
            <a:off x="5669280" y="3657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градиентный бустинг совмещает сигналы → риск 0–100 + объяснение</a:t>
            </a:r>
            <a:endParaRPr lang="en-US" sz="1200" dirty="0"/>
          </a:p>
        </p:txBody>
      </p:sp>
      <p:sp>
        <p:nvSpPr>
          <p:cNvPr id="29" name="arrow 2"/>
          <p:cNvSpPr/>
          <p:nvPr/>
        </p:nvSpPr>
        <p:spPr>
          <a:xfrm>
            <a:off x="8001000" y="3246120"/>
            <a:ext cx="502920" cy="411480"/>
          </a:xfrm>
          <a:prstGeom prst="rightArrow">
            <a:avLst/>
          </a:prstGeom>
          <a:solidFill>
            <a:srgbClr val="2A3647"/>
          </a:solidFill>
          <a:ln w="12700">
            <a:solidFill>
              <a:srgbClr val="2A3647"/>
            </a:solidFill>
            <a:prstDash val="solid"/>
          </a:ln>
        </p:spPr>
      </p:sp>
      <p:sp>
        <p:nvSpPr>
          <p:cNvPr id="30" name="tier LOW"/>
          <p:cNvSpPr/>
          <p:nvPr/>
        </p:nvSpPr>
        <p:spPr>
          <a:xfrm>
            <a:off x="8641080" y="1463040"/>
            <a:ext cx="3017520" cy="1298448"/>
          </a:xfrm>
          <a:prstGeom prst="roundRect">
            <a:avLst>
              <a:gd name="adj" fmla="val 8451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1" name="tier pill LOW"/>
          <p:cNvSpPr/>
          <p:nvPr/>
        </p:nvSpPr>
        <p:spPr>
          <a:xfrm>
            <a:off x="8823960" y="16459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CA30C">
              <a:alpha val="25000"/>
            </a:srgbClr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32" name="tier label LOW"/>
          <p:cNvSpPr txBox="1"/>
          <p:nvPr/>
        </p:nvSpPr>
        <p:spPr>
          <a:xfrm>
            <a:off x="8823960" y="16459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A30C"/>
                </a:solidFill>
              </a:rPr>
              <a:t>LOW</a:t>
            </a:r>
            <a:endParaRPr lang="en-US" sz="1200" dirty="0"/>
          </a:p>
        </p:txBody>
      </p:sp>
      <p:sp>
        <p:nvSpPr>
          <p:cNvPr id="33" name="tier action LOW"/>
          <p:cNvSpPr txBox="1"/>
          <p:nvPr/>
        </p:nvSpPr>
        <p:spPr>
          <a:xfrm>
            <a:off x="10012680" y="1627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Разрешить</a:t>
            </a:r>
            <a:endParaRPr lang="en-US" sz="1500" dirty="0"/>
          </a:p>
        </p:txBody>
      </p:sp>
      <p:sp>
        <p:nvSpPr>
          <p:cNvPr id="34" name="tier text LOW"/>
          <p:cNvSpPr txBox="1"/>
          <p:nvPr/>
        </p:nvSpPr>
        <p:spPr>
          <a:xfrm>
            <a:off x="8823960" y="208483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без вмешательства</a:t>
            </a:r>
            <a:endParaRPr lang="en-US" sz="1200" dirty="0"/>
          </a:p>
        </p:txBody>
      </p:sp>
      <p:sp>
        <p:nvSpPr>
          <p:cNvPr id="35" name="tier MEDIUM"/>
          <p:cNvSpPr/>
          <p:nvPr/>
        </p:nvSpPr>
        <p:spPr>
          <a:xfrm>
            <a:off x="8641080" y="2944368"/>
            <a:ext cx="3017520" cy="1298448"/>
          </a:xfrm>
          <a:prstGeom prst="roundRect">
            <a:avLst>
              <a:gd name="adj" fmla="val 8451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6" name="tier pill MEDIUM"/>
          <p:cNvSpPr/>
          <p:nvPr/>
        </p:nvSpPr>
        <p:spPr>
          <a:xfrm>
            <a:off x="8823960" y="312724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AB219">
              <a:alpha val="25000"/>
            </a:srgbClr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37" name="tier label MEDIUM"/>
          <p:cNvSpPr txBox="1"/>
          <p:nvPr/>
        </p:nvSpPr>
        <p:spPr>
          <a:xfrm>
            <a:off x="8823960" y="31272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B219"/>
                </a:solidFill>
              </a:rPr>
              <a:t>MEDIUM</a:t>
            </a:r>
            <a:endParaRPr lang="en-US" sz="1200" dirty="0"/>
          </a:p>
        </p:txBody>
      </p:sp>
      <p:sp>
        <p:nvSpPr>
          <p:cNvPr id="38" name="tier action MEDIUM"/>
          <p:cNvSpPr txBox="1"/>
          <p:nvPr/>
        </p:nvSpPr>
        <p:spPr>
          <a:xfrm>
            <a:off x="1001268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Step-up</a:t>
            </a:r>
            <a:endParaRPr lang="en-US" sz="1500" dirty="0"/>
          </a:p>
        </p:txBody>
      </p:sp>
      <p:sp>
        <p:nvSpPr>
          <p:cNvPr id="39" name="tier text MEDIUM"/>
          <p:cNvSpPr txBox="1"/>
          <p:nvPr/>
        </p:nvSpPr>
        <p:spPr>
          <a:xfrm>
            <a:off x="8823960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перепроверить получателя, предупреждение о мошенничестве</a:t>
            </a:r>
            <a:endParaRPr lang="en-US" sz="1200" dirty="0"/>
          </a:p>
        </p:txBody>
      </p:sp>
      <p:sp>
        <p:nvSpPr>
          <p:cNvPr id="40" name="tier HIGH"/>
          <p:cNvSpPr/>
          <p:nvPr/>
        </p:nvSpPr>
        <p:spPr>
          <a:xfrm>
            <a:off x="8641080" y="4425696"/>
            <a:ext cx="3017520" cy="1298448"/>
          </a:xfrm>
          <a:prstGeom prst="roundRect">
            <a:avLst>
              <a:gd name="adj" fmla="val 8451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41" name="tier pill HIGH"/>
          <p:cNvSpPr/>
          <p:nvPr/>
        </p:nvSpPr>
        <p:spPr>
          <a:xfrm>
            <a:off x="8823960" y="460857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05252">
              <a:alpha val="25000"/>
            </a:srgbClr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2" name="tier label HIGH"/>
          <p:cNvSpPr txBox="1"/>
          <p:nvPr/>
        </p:nvSpPr>
        <p:spPr>
          <a:xfrm>
            <a:off x="8823960" y="46085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252"/>
                </a:solidFill>
              </a:rPr>
              <a:t>HIGH</a:t>
            </a:r>
            <a:endParaRPr lang="en-US" sz="1200" dirty="0"/>
          </a:p>
        </p:txBody>
      </p:sp>
      <p:sp>
        <p:nvSpPr>
          <p:cNvPr id="43" name="tier action HIGH"/>
          <p:cNvSpPr txBox="1"/>
          <p:nvPr/>
        </p:nvSpPr>
        <p:spPr>
          <a:xfrm>
            <a:off x="10012680" y="4590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Проверка</a:t>
            </a:r>
            <a:endParaRPr lang="en-US" sz="1500" dirty="0"/>
          </a:p>
        </p:txBody>
      </p:sp>
      <p:sp>
        <p:nvSpPr>
          <p:cNvPr id="44" name="tier text HIGH"/>
          <p:cNvSpPr txBox="1"/>
          <p:nvPr/>
        </p:nvSpPr>
        <p:spPr>
          <a:xfrm>
            <a:off x="8823960" y="50474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аналитик; временное удержание — только по политике банка</a:t>
            </a:r>
            <a:endParaRPr lang="en-US" sz="1200" dirty="0"/>
          </a:p>
        </p:txBody>
      </p:sp>
      <p:sp>
        <p:nvSpPr>
          <p:cNvPr id="45" name="safeguard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CC5B0"/>
                </a:solidFill>
              </a:rPr>
              <a:t>Защитное правило: одно лишь необычное поведение никогда не ведёт к удержанию перевода.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Техническая архитектура</a:t>
            </a:r>
            <a:endParaRPr lang="en-US" sz="3200" dirty="0"/>
          </a:p>
        </p:txBody>
      </p:sp>
      <p:sp>
        <p:nvSpPr>
          <p:cNvPr id="3" name="arch ui"/>
          <p:cNvSpPr/>
          <p:nvPr/>
        </p:nvSpPr>
        <p:spPr>
          <a:xfrm>
            <a:off x="548640" y="137160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4" name="arch ui title"/>
          <p:cNvSpPr txBox="1"/>
          <p:nvPr/>
        </p:nvSpPr>
        <p:spPr>
          <a:xfrm>
            <a:off x="685800" y="14813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Дашборд</a:t>
            </a:r>
            <a:endParaRPr lang="en-US" sz="1400" dirty="0"/>
          </a:p>
        </p:txBody>
      </p:sp>
      <p:sp>
        <p:nvSpPr>
          <p:cNvPr id="5" name="arch ui text"/>
          <p:cNvSpPr txBox="1"/>
          <p:nvPr/>
        </p:nvSpPr>
        <p:spPr>
          <a:xfrm>
            <a:off x="685800" y="179222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React + TypeScript, 8 страниц</a:t>
            </a:r>
            <a:endParaRPr lang="en-US" sz="1100" dirty="0"/>
          </a:p>
        </p:txBody>
      </p:sp>
      <p:sp>
        <p:nvSpPr>
          <p:cNvPr id="6" name="arch ext"/>
          <p:cNvSpPr/>
          <p:nvPr/>
        </p:nvSpPr>
        <p:spPr>
          <a:xfrm>
            <a:off x="548640" y="251460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7" name="arch ext title"/>
          <p:cNvSpPr txBox="1"/>
          <p:nvPr/>
        </p:nvSpPr>
        <p:spPr>
          <a:xfrm>
            <a:off x="685800" y="26243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Внешний сервис</a:t>
            </a:r>
            <a:endParaRPr lang="en-US" sz="1400" dirty="0"/>
          </a:p>
        </p:txBody>
      </p:sp>
      <p:sp>
        <p:nvSpPr>
          <p:cNvPr id="8" name="arch ext text"/>
          <p:cNvSpPr txBox="1"/>
          <p:nvPr/>
        </p:nvSpPr>
        <p:spPr>
          <a:xfrm>
            <a:off x="685800" y="293522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REST API v1, Swagger</a:t>
            </a:r>
            <a:endParaRPr lang="en-US" sz="1100" dirty="0"/>
          </a:p>
        </p:txBody>
      </p:sp>
      <p:sp>
        <p:nvSpPr>
          <p:cNvPr id="9" name="arch arrow 0"/>
          <p:cNvSpPr/>
          <p:nvPr/>
        </p:nvSpPr>
        <p:spPr>
          <a:xfrm>
            <a:off x="2331720" y="2286000"/>
            <a:ext cx="320040" cy="256032"/>
          </a:xfrm>
          <a:prstGeom prst="rightArrow">
            <a:avLst/>
          </a:prstGeom>
          <a:solidFill>
            <a:srgbClr val="2A3647"/>
          </a:solidFill>
          <a:ln w="12700">
            <a:solidFill>
              <a:srgbClr val="2A3647"/>
            </a:solidFill>
            <a:prstDash val="solid"/>
          </a:ln>
        </p:spPr>
      </p:sp>
      <p:sp>
        <p:nvSpPr>
          <p:cNvPr id="10" name="arch sec"/>
          <p:cNvSpPr/>
          <p:nvPr/>
        </p:nvSpPr>
        <p:spPr>
          <a:xfrm>
            <a:off x="2743200" y="1371600"/>
            <a:ext cx="1874520" cy="2057400"/>
          </a:xfrm>
          <a:prstGeom prst="roundRect">
            <a:avLst>
              <a:gd name="adj" fmla="val 5854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1" name="arch sec title"/>
          <p:cNvSpPr txBox="1"/>
          <p:nvPr/>
        </p:nvSpPr>
        <p:spPr>
          <a:xfrm>
            <a:off x="2880360" y="14813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Защита и валидация</a:t>
            </a:r>
            <a:endParaRPr lang="en-US" sz="1400" dirty="0"/>
          </a:p>
        </p:txBody>
      </p:sp>
      <p:sp>
        <p:nvSpPr>
          <p:cNvPr id="12" name="arch sec text"/>
          <p:cNvSpPr txBox="1"/>
          <p:nvPr/>
        </p:nvSpPr>
        <p:spPr>
          <a:xfrm>
            <a:off x="2880360" y="1792224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лимит тела, rate limit, CSP, request-id; Pydantic: лишние поля и диапазоны отклоняются</a:t>
            </a:r>
            <a:endParaRPr lang="en-US" sz="1100" dirty="0"/>
          </a:p>
        </p:txBody>
      </p:sp>
      <p:sp>
        <p:nvSpPr>
          <p:cNvPr id="13" name="arch arrow 1"/>
          <p:cNvSpPr/>
          <p:nvPr/>
        </p:nvSpPr>
        <p:spPr>
          <a:xfrm>
            <a:off x="4709160" y="2286000"/>
            <a:ext cx="320040" cy="256032"/>
          </a:xfrm>
          <a:prstGeom prst="rightArrow">
            <a:avLst/>
          </a:prstGeom>
          <a:solidFill>
            <a:srgbClr val="2A3647"/>
          </a:solidFill>
          <a:ln w="12700">
            <a:solidFill>
              <a:srgbClr val="2A3647"/>
            </a:solidFill>
            <a:prstDash val="solid"/>
          </a:ln>
        </p:spPr>
      </p:sp>
      <p:sp>
        <p:nvSpPr>
          <p:cNvPr id="14" name="arch feat"/>
          <p:cNvSpPr/>
          <p:nvPr/>
        </p:nvSpPr>
        <p:spPr>
          <a:xfrm>
            <a:off x="5120640" y="137160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5" name="arch feat title"/>
          <p:cNvSpPr txBox="1"/>
          <p:nvPr/>
        </p:nvSpPr>
        <p:spPr>
          <a:xfrm>
            <a:off x="5257800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Признаки</a:t>
            </a:r>
            <a:endParaRPr lang="en-US" sz="1400" dirty="0"/>
          </a:p>
        </p:txBody>
      </p:sp>
      <p:sp>
        <p:nvSpPr>
          <p:cNvPr id="16" name="arch feat text"/>
          <p:cNvSpPr txBox="1"/>
          <p:nvPr/>
        </p:nvSpPr>
        <p:spPr>
          <a:xfrm>
            <a:off x="5257800" y="1792224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features.py — один код для обучения и API; паритет проверяется тестом</a:t>
            </a:r>
            <a:endParaRPr lang="en-US" sz="1100" dirty="0"/>
          </a:p>
        </p:txBody>
      </p:sp>
      <p:sp>
        <p:nvSpPr>
          <p:cNvPr id="17" name="arch arrow 2"/>
          <p:cNvSpPr/>
          <p:nvPr/>
        </p:nvSpPr>
        <p:spPr>
          <a:xfrm>
            <a:off x="7178040" y="2286000"/>
            <a:ext cx="320040" cy="256032"/>
          </a:xfrm>
          <a:prstGeom prst="rightArrow">
            <a:avLst/>
          </a:prstGeom>
          <a:solidFill>
            <a:srgbClr val="2A3647"/>
          </a:solidFill>
          <a:ln w="12700">
            <a:solidFill>
              <a:srgbClr val="2A3647"/>
            </a:solidFill>
            <a:prstDash val="solid"/>
          </a:ln>
        </p:spPr>
      </p:sp>
      <p:sp>
        <p:nvSpPr>
          <p:cNvPr id="18" name="arch model"/>
          <p:cNvSpPr/>
          <p:nvPr/>
        </p:nvSpPr>
        <p:spPr>
          <a:xfrm>
            <a:off x="7589520" y="1371600"/>
            <a:ext cx="1920240" cy="2057400"/>
          </a:xfrm>
          <a:prstGeom prst="roundRect">
            <a:avLst>
              <a:gd name="adj" fmla="val 5714"/>
            </a:avLst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9" name="arch model title"/>
          <p:cNvSpPr txBox="1"/>
          <p:nvPr/>
        </p:nvSpPr>
        <p:spPr>
          <a:xfrm>
            <a:off x="7726680" y="14813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Модель</a:t>
            </a:r>
            <a:endParaRPr lang="en-US" sz="1400" dirty="0"/>
          </a:p>
        </p:txBody>
      </p:sp>
      <p:sp>
        <p:nvSpPr>
          <p:cNvPr id="20" name="arch model text"/>
          <p:cNvSpPr txBox="1"/>
          <p:nvPr/>
        </p:nvSpPr>
        <p:spPr>
          <a:xfrm>
            <a:off x="7726680" y="1792224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4 компонента (поведение, граф, соц. инженерия, репутация) → HistGradientBoosting</a:t>
            </a:r>
            <a:endParaRPr lang="en-US" sz="1100" dirty="0"/>
          </a:p>
        </p:txBody>
      </p:sp>
      <p:sp>
        <p:nvSpPr>
          <p:cNvPr id="21" name="arch arrow 3"/>
          <p:cNvSpPr/>
          <p:nvPr/>
        </p:nvSpPr>
        <p:spPr>
          <a:xfrm>
            <a:off x="9601200" y="2286000"/>
            <a:ext cx="320040" cy="256032"/>
          </a:xfrm>
          <a:prstGeom prst="rightArrow">
            <a:avLst/>
          </a:prstGeom>
          <a:solidFill>
            <a:srgbClr val="2A3647"/>
          </a:solidFill>
          <a:ln w="12700">
            <a:solidFill>
              <a:srgbClr val="2A3647"/>
            </a:solidFill>
            <a:prstDash val="solid"/>
          </a:ln>
        </p:spPr>
      </p:sp>
      <p:sp>
        <p:nvSpPr>
          <p:cNvPr id="22" name="arch pol"/>
          <p:cNvSpPr/>
          <p:nvPr/>
        </p:nvSpPr>
        <p:spPr>
          <a:xfrm>
            <a:off x="10012680" y="1371600"/>
            <a:ext cx="1645920" cy="2057400"/>
          </a:xfrm>
          <a:prstGeom prst="roundRect">
            <a:avLst>
              <a:gd name="adj" fmla="val 6667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3" name="arch pol title"/>
          <p:cNvSpPr txBox="1"/>
          <p:nvPr/>
        </p:nvSpPr>
        <p:spPr>
          <a:xfrm>
            <a:off x="1014984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Политика</a:t>
            </a:r>
            <a:endParaRPr lang="en-US" sz="1400" dirty="0"/>
          </a:p>
        </p:txBody>
      </p:sp>
      <p:sp>
        <p:nvSpPr>
          <p:cNvPr id="24" name="arch pol text"/>
          <p:cNvSpPr txBox="1"/>
          <p:nvPr/>
        </p:nvSpPr>
        <p:spPr>
          <a:xfrm>
            <a:off x="10149840" y="1792224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пороги из validation; объяснение окклюзией; отчёт аналитика</a:t>
            </a:r>
            <a:endParaRPr lang="en-US" sz="1100" dirty="0"/>
          </a:p>
        </p:txBody>
      </p:sp>
      <p:sp>
        <p:nvSpPr>
          <p:cNvPr id="25" name="arch db"/>
          <p:cNvSpPr/>
          <p:nvPr/>
        </p:nvSpPr>
        <p:spPr>
          <a:xfrm>
            <a:off x="2743200" y="3794760"/>
            <a:ext cx="4343400" cy="1051560"/>
          </a:xfrm>
          <a:prstGeom prst="roundRect">
            <a:avLst>
              <a:gd name="adj" fmla="val 1043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6" name="arch db title"/>
          <p:cNvSpPr txBox="1"/>
          <p:nvPr/>
        </p:nvSpPr>
        <p:spPr>
          <a:xfrm>
            <a:off x="2880360" y="390448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SQLite: решения · аудит · настройки</a:t>
            </a:r>
            <a:endParaRPr lang="en-US" sz="1400" dirty="0"/>
          </a:p>
        </p:txBody>
      </p:sp>
      <p:sp>
        <p:nvSpPr>
          <p:cNvPr id="27" name="arch db text"/>
          <p:cNvSpPr txBox="1"/>
          <p:nvPr/>
        </p:nvSpPr>
        <p:spPr>
          <a:xfrm>
            <a:off x="2880360" y="421538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только псевдонимные ID, без тел запросов в логах</a:t>
            </a:r>
            <a:endParaRPr lang="en-US" sz="1100" dirty="0"/>
          </a:p>
        </p:txBody>
      </p:sp>
      <p:sp>
        <p:nvSpPr>
          <p:cNvPr id="28" name="arch graph"/>
          <p:cNvSpPr/>
          <p:nvPr/>
        </p:nvSpPr>
        <p:spPr>
          <a:xfrm>
            <a:off x="7589520" y="3794760"/>
            <a:ext cx="4069080" cy="1051560"/>
          </a:xfrm>
          <a:prstGeom prst="roundRect">
            <a:avLst>
              <a:gd name="adj" fmla="val 1043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9" name="arch graph title"/>
          <p:cNvSpPr txBox="1"/>
          <p:nvPr/>
        </p:nvSpPr>
        <p:spPr>
          <a:xfrm>
            <a:off x="7726680" y="39044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Graph Engine (NetworkX)</a:t>
            </a:r>
            <a:endParaRPr lang="en-US" sz="1400" dirty="0"/>
          </a:p>
        </p:txBody>
      </p:sp>
      <p:sp>
        <p:nvSpPr>
          <p:cNvPr id="30" name="arch graph text"/>
          <p:cNvSpPr txBox="1"/>
          <p:nvPr/>
        </p:nvSpPr>
        <p:spPr>
          <a:xfrm>
            <a:off x="7726680" y="421538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fan-in, цепочки пересылки, общие получатели</a:t>
            </a:r>
            <a:endParaRPr lang="en-US" sz="1100" dirty="0"/>
          </a:p>
        </p:txBody>
      </p:sp>
      <p:sp>
        <p:nvSpPr>
          <p:cNvPr id="31" name="arch ml"/>
          <p:cNvSpPr/>
          <p:nvPr/>
        </p:nvSpPr>
        <p:spPr>
          <a:xfrm>
            <a:off x="548640" y="5074920"/>
            <a:ext cx="6537960" cy="1097280"/>
          </a:xfrm>
          <a:prstGeom prst="roundRect">
            <a:avLst>
              <a:gd name="adj" fmla="val 10000"/>
            </a:avLst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2" name="arch ml title"/>
          <p:cNvSpPr txBox="1"/>
          <p:nvPr/>
        </p:nvSpPr>
        <p:spPr>
          <a:xfrm>
            <a:off x="685800" y="518464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</a:rPr>
              <a:t>Офлайн-контур ML</a:t>
            </a:r>
            <a:endParaRPr lang="en-US" sz="1400" dirty="0"/>
          </a:p>
        </p:txBody>
      </p:sp>
      <p:sp>
        <p:nvSpPr>
          <p:cNvPr id="33" name="arch ml text"/>
          <p:cNvSpPr txBox="1"/>
          <p:nvPr/>
        </p:nvSpPr>
        <p:spPr>
          <a:xfrm>
            <a:off x="685800" y="5495544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генератор (seed 42) → 6 систем, разбиение по времени → model.joblib, policy.json, experiments/results</a:t>
            </a:r>
            <a:endParaRPr lang="en-US" sz="1100" dirty="0"/>
          </a:p>
        </p:txBody>
      </p:sp>
      <p:sp>
        <p:nvSpPr>
          <p:cNvPr id="34" name="fact REST-эндпоинтов"/>
          <p:cNvSpPr/>
          <p:nvPr/>
        </p:nvSpPr>
        <p:spPr>
          <a:xfrm>
            <a:off x="7589520" y="5074920"/>
            <a:ext cx="1280160" cy="1097280"/>
          </a:xfrm>
          <a:prstGeom prst="roundRect">
            <a:avLst>
              <a:gd name="adj" fmla="val 10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5" name="fact value REST-эндпоинтов"/>
          <p:cNvSpPr txBox="1"/>
          <p:nvPr/>
        </p:nvSpPr>
        <p:spPr>
          <a:xfrm>
            <a:off x="7589520" y="51389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C5B0"/>
                </a:solidFill>
              </a:rPr>
              <a:t>13+</a:t>
            </a:r>
            <a:endParaRPr lang="en-US" sz="2800" dirty="0"/>
          </a:p>
        </p:txBody>
      </p:sp>
      <p:sp>
        <p:nvSpPr>
          <p:cNvPr id="36" name="fact label REST-эндпоинтов"/>
          <p:cNvSpPr txBox="1"/>
          <p:nvPr/>
        </p:nvSpPr>
        <p:spPr>
          <a:xfrm>
            <a:off x="7635240" y="5669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REST-эндпоинтов</a:t>
            </a:r>
            <a:endParaRPr lang="en-US" sz="1100" dirty="0"/>
          </a:p>
        </p:txBody>
      </p:sp>
      <p:sp>
        <p:nvSpPr>
          <p:cNvPr id="37" name="fact автотестов"/>
          <p:cNvSpPr/>
          <p:nvPr/>
        </p:nvSpPr>
        <p:spPr>
          <a:xfrm>
            <a:off x="8979408" y="5074920"/>
            <a:ext cx="1280160" cy="1097280"/>
          </a:xfrm>
          <a:prstGeom prst="roundRect">
            <a:avLst>
              <a:gd name="adj" fmla="val 10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8" name="fact value автотестов"/>
          <p:cNvSpPr txBox="1"/>
          <p:nvPr/>
        </p:nvSpPr>
        <p:spPr>
          <a:xfrm>
            <a:off x="8979408" y="51389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C5B0"/>
                </a:solidFill>
              </a:rPr>
              <a:t>45</a:t>
            </a:r>
            <a:endParaRPr lang="en-US" sz="2800" dirty="0"/>
          </a:p>
        </p:txBody>
      </p:sp>
      <p:sp>
        <p:nvSpPr>
          <p:cNvPr id="39" name="fact label автотестов"/>
          <p:cNvSpPr txBox="1"/>
          <p:nvPr/>
        </p:nvSpPr>
        <p:spPr>
          <a:xfrm>
            <a:off x="9025128" y="5669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автотестов</a:t>
            </a:r>
            <a:endParaRPr lang="en-US" sz="1100" dirty="0"/>
          </a:p>
        </p:txBody>
      </p:sp>
      <p:sp>
        <p:nvSpPr>
          <p:cNvPr id="40" name="fact страниц UI"/>
          <p:cNvSpPr/>
          <p:nvPr/>
        </p:nvSpPr>
        <p:spPr>
          <a:xfrm>
            <a:off x="10369296" y="5074920"/>
            <a:ext cx="1280160" cy="1097280"/>
          </a:xfrm>
          <a:prstGeom prst="roundRect">
            <a:avLst>
              <a:gd name="adj" fmla="val 10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41" name="fact value страниц UI"/>
          <p:cNvSpPr txBox="1"/>
          <p:nvPr/>
        </p:nvSpPr>
        <p:spPr>
          <a:xfrm>
            <a:off x="10369296" y="513892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C5B0"/>
                </a:solidFill>
              </a:rPr>
              <a:t>8</a:t>
            </a:r>
            <a:endParaRPr lang="en-US" sz="2800" dirty="0"/>
          </a:p>
        </p:txBody>
      </p:sp>
      <p:sp>
        <p:nvSpPr>
          <p:cNvPr id="42" name="fact label страниц UI"/>
          <p:cNvSpPr txBox="1"/>
          <p:nvPr/>
        </p:nvSpPr>
        <p:spPr>
          <a:xfrm>
            <a:off x="10415016" y="5669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страниц UI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Каждый компонент добавляет качество</a:t>
            </a:r>
            <a:endParaRPr lang="en-US" sz="3200" dirty="0"/>
          </a:p>
        </p:txBody>
      </p:sp>
      <p:sp>
        <p:nvSpPr>
          <p:cNvPr id="3" name="component 1"/>
          <p:cNvSpPr/>
          <p:nvPr/>
        </p:nvSpPr>
        <p:spPr>
          <a:xfrm>
            <a:off x="548640" y="13716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4" name="component icon 1 circle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5" name="componen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832458"/>
            <a:ext cx="358445" cy="358445"/>
          </a:xfrm>
          <a:prstGeom prst="rect">
            <a:avLst/>
          </a:prstGeom>
        </p:spPr>
      </p:pic>
      <p:sp>
        <p:nvSpPr>
          <p:cNvPr id="6" name="component title 1"/>
          <p:cNvSpPr txBox="1"/>
          <p:nvPr/>
        </p:nvSpPr>
        <p:spPr>
          <a:xfrm>
            <a:off x="164592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5"/>
                </a:solidFill>
              </a:rPr>
              <a:t>Поведение относительно своей нормы</a:t>
            </a:r>
            <a:endParaRPr lang="en-US" sz="1600" dirty="0"/>
          </a:p>
        </p:txBody>
      </p:sp>
      <p:sp>
        <p:nvSpPr>
          <p:cNvPr id="7" name="component text 1"/>
          <p:cNvSpPr txBox="1"/>
          <p:nvPr/>
        </p:nvSpPr>
        <p:spPr>
          <a:xfrm>
            <a:off x="1645920" y="1874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Отдельно ритм набора («другой человек?») и колебания («давление?»). Без согласия компонент выключен и ничего не додумывает.</a:t>
            </a:r>
            <a:endParaRPr lang="en-US" sz="1200" dirty="0"/>
          </a:p>
        </p:txBody>
      </p:sp>
      <p:sp>
        <p:nvSpPr>
          <p:cNvPr id="8" name="component 2"/>
          <p:cNvSpPr/>
          <p:nvPr/>
        </p:nvSpPr>
        <p:spPr>
          <a:xfrm>
            <a:off x="548640" y="2944368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9" name="component icon 2 circle"/>
          <p:cNvSpPr/>
          <p:nvPr/>
        </p:nvSpPr>
        <p:spPr>
          <a:xfrm>
            <a:off x="777240" y="3264408"/>
            <a:ext cx="640080" cy="64008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0" name="componen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3405226"/>
            <a:ext cx="358445" cy="358445"/>
          </a:xfrm>
          <a:prstGeom prst="rect">
            <a:avLst/>
          </a:prstGeom>
        </p:spPr>
      </p:pic>
      <p:sp>
        <p:nvSpPr>
          <p:cNvPr id="11" name="component title 2"/>
          <p:cNvSpPr txBox="1"/>
          <p:nvPr/>
        </p:nvSpPr>
        <p:spPr>
          <a:xfrm>
            <a:off x="1645920" y="3081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5"/>
                </a:solidFill>
              </a:rPr>
              <a:t>Граф без заглядывания в будущее</a:t>
            </a:r>
            <a:endParaRPr lang="en-US" sz="1600" dirty="0"/>
          </a:p>
        </p:txBody>
      </p:sp>
      <p:sp>
        <p:nvSpPr>
          <p:cNvPr id="12" name="component text 2"/>
          <p:cNvSpPr txBox="1"/>
          <p:nvPr/>
        </p:nvSpPr>
        <p:spPr>
          <a:xfrm>
            <a:off x="1645920" y="34472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Признаки только из прошлых переводов; жалобы приходят с задержкой 6–120 ч, поэтому метка не просачивается.</a:t>
            </a:r>
            <a:endParaRPr lang="en-US" sz="1200" dirty="0"/>
          </a:p>
        </p:txBody>
      </p:sp>
      <p:sp>
        <p:nvSpPr>
          <p:cNvPr id="13" name="component 3"/>
          <p:cNvSpPr/>
          <p:nvPr/>
        </p:nvSpPr>
        <p:spPr>
          <a:xfrm>
            <a:off x="548640" y="4517136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4" name="component icon 3 circle"/>
          <p:cNvSpPr/>
          <p:nvPr/>
        </p:nvSpPr>
        <p:spPr>
          <a:xfrm>
            <a:off x="777240" y="4837176"/>
            <a:ext cx="640080" cy="64008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5" name="componen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4977994"/>
            <a:ext cx="358445" cy="358445"/>
          </a:xfrm>
          <a:prstGeom prst="rect">
            <a:avLst/>
          </a:prstGeom>
        </p:spPr>
      </p:pic>
      <p:sp>
        <p:nvSpPr>
          <p:cNvPr id="16" name="component title 3"/>
          <p:cNvSpPr txBox="1"/>
          <p:nvPr/>
        </p:nvSpPr>
        <p:spPr>
          <a:xfrm>
            <a:off x="1645920" y="4654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DF5"/>
                </a:solidFill>
              </a:rPr>
              <a:t>Социальная инженерия</a:t>
            </a:r>
            <a:endParaRPr lang="en-US" sz="1600" dirty="0"/>
          </a:p>
        </p:txBody>
      </p:sp>
      <p:sp>
        <p:nvSpPr>
          <p:cNvPr id="17" name="component text 3"/>
          <p:cNvSpPr txBox="1"/>
          <p:nvPr/>
        </p:nvSpPr>
        <p:spPr>
          <a:xfrm>
            <a:off x="1645920" y="502005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Нужны минимум 2 независимых сигнала; один сигнал ограничен 45 баллами из 100.</a:t>
            </a:r>
            <a:endParaRPr lang="en-US" sz="1200" dirty="0"/>
          </a:p>
        </p:txBody>
      </p:sp>
      <p:sp>
        <p:nvSpPr>
          <p:cNvPr id="18" name="ablation card"/>
          <p:cNvSpPr/>
          <p:nvPr/>
        </p:nvSpPr>
        <p:spPr>
          <a:xfrm>
            <a:off x="5943600" y="1371600"/>
            <a:ext cx="5715000" cy="4709160"/>
          </a:xfrm>
          <a:prstGeom prst="roundRect">
            <a:avLst>
              <a:gd name="adj" fmla="val 233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graphicFrame>
        <p:nvGraphicFramePr>
          <p:cNvPr id="19" name="ablation chart" descr=""/>
          <p:cNvGraphicFramePr/>
          <p:nvPr/>
        </p:nvGraphicFramePr>
        <p:xfrm>
          <a:off x="6080760" y="1463040"/>
          <a:ext cx="54406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Live demo: обычный перевод против социальной инженерии</a:t>
            </a:r>
            <a:endParaRPr lang="en-US" sz="3200" dirty="0"/>
          </a:p>
        </p:txBody>
      </p:sp>
      <p:sp>
        <p:nvSpPr>
          <p:cNvPr id="3" name="demo screenshot frame"/>
          <p:cNvSpPr/>
          <p:nvPr/>
        </p:nvSpPr>
        <p:spPr>
          <a:xfrm>
            <a:off x="539496" y="1316736"/>
            <a:ext cx="6876288" cy="4485672"/>
          </a:xfrm>
          <a:prstGeom prst="roundRect">
            <a:avLst>
              <a:gd name="adj" fmla="val 2038"/>
            </a:avLst>
          </a:prstGeom>
          <a:solidFill>
            <a:srgbClr val="1C2532"/>
          </a:solidFill>
          <a:ln w="12700">
            <a:solidFill>
              <a:srgbClr val="2A364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4" name="demo screenshot" descr="/home/claude/neuroshield/presentation/assets/demo_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6766560" cy="4375944"/>
          </a:xfrm>
          <a:prstGeom prst="rect">
            <a:avLst/>
          </a:prstGeom>
        </p:spPr>
      </p:pic>
      <p:sp>
        <p:nvSpPr>
          <p:cNvPr id="5" name="demo A card"/>
          <p:cNvSpPr/>
          <p:nvPr/>
        </p:nvSpPr>
        <p:spPr>
          <a:xfrm>
            <a:off x="8138160" y="13716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6" name="demo A value"/>
          <p:cNvSpPr txBox="1"/>
          <p:nvPr/>
        </p:nvSpPr>
        <p:spPr>
          <a:xfrm>
            <a:off x="8366760" y="15361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A30C"/>
                </a:solidFill>
              </a:rPr>
              <a:t>A: 0,01 · LOW</a:t>
            </a:r>
            <a:endParaRPr lang="en-US" sz="3000" dirty="0"/>
          </a:p>
        </p:txBody>
      </p:sp>
      <p:sp>
        <p:nvSpPr>
          <p:cNvPr id="7" name="demo A label"/>
          <p:cNvSpPr txBox="1"/>
          <p:nvPr/>
        </p:nvSpPr>
        <p:spPr>
          <a:xfrm>
            <a:off x="8366760" y="21579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перевод сестре 25 000 ₸, всё как обычно → разрешить</a:t>
            </a:r>
            <a:endParaRPr lang="en-US" sz="1200" dirty="0"/>
          </a:p>
        </p:txBody>
      </p:sp>
      <p:sp>
        <p:nvSpPr>
          <p:cNvPr id="8" name="demo B card"/>
          <p:cNvSpPr/>
          <p:nvPr/>
        </p:nvSpPr>
        <p:spPr>
          <a:xfrm>
            <a:off x="8138160" y="2834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9" name="demo B value"/>
          <p:cNvSpPr txBox="1"/>
          <p:nvPr/>
        </p:nvSpPr>
        <p:spPr>
          <a:xfrm>
            <a:off x="8366760" y="299923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252"/>
                </a:solidFill>
              </a:rPr>
              <a:t>B: 97,2 · HIGH</a:t>
            </a:r>
            <a:endParaRPr lang="en-US" sz="3000" dirty="0"/>
          </a:p>
        </p:txBody>
      </p:sp>
      <p:sp>
        <p:nvSpPr>
          <p:cNvPr id="10" name="demo B label"/>
          <p:cNvSpPr txBox="1"/>
          <p:nvPr/>
        </p:nvSpPr>
        <p:spPr>
          <a:xfrm>
            <a:off x="8366760" y="362102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450 000 ₸ новому счёту во время звонка, «меня попросили» → проверка</a:t>
            </a:r>
            <a:endParaRPr lang="en-US" sz="1200" dirty="0"/>
          </a:p>
        </p:txBody>
      </p:sp>
      <p:sp>
        <p:nvSpPr>
          <p:cNvPr id="11" name="fp bench card"/>
          <p:cNvSpPr/>
          <p:nvPr/>
        </p:nvSpPr>
        <p:spPr>
          <a:xfrm>
            <a:off x="8138160" y="429768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2" name="fp bench value"/>
          <p:cNvSpPr txBox="1"/>
          <p:nvPr/>
        </p:nvSpPr>
        <p:spPr>
          <a:xfrm>
            <a:off x="8366760" y="4462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C5B0"/>
                </a:solidFill>
              </a:rPr>
              <a:t>6 / 6</a:t>
            </a:r>
            <a:endParaRPr lang="en-US" sz="3000" dirty="0"/>
          </a:p>
        </p:txBody>
      </p:sp>
      <p:sp>
        <p:nvSpPr>
          <p:cNvPr id="13" name="fp bench label"/>
          <p:cNvSpPr txBox="1"/>
          <p:nvPr/>
        </p:nvSpPr>
        <p:spPr>
          <a:xfrm>
            <a:off x="8366760" y="508406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проверок пройдено: путешествие, новый телефон, крупная покупка — не HIGH</a:t>
            </a:r>
            <a:endParaRPr lang="en-US" sz="1200" dirty="0"/>
          </a:p>
        </p:txBody>
      </p:sp>
      <p:sp>
        <p:nvSpPr>
          <p:cNvPr id="14" name="demo note"/>
          <p:cNvSpPr txBox="1"/>
          <p:nvPr/>
        </p:nvSpPr>
        <p:spPr>
          <a:xfrm>
            <a:off x="59436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Сценарии идут через настоящий backend: валидация → признаки → модель → политика → объяснение. Синтетический клиент, реальный стресс не определяется.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Методика: без утечек, пороги до теста</a:t>
            </a:r>
            <a:endParaRPr lang="en-US" sz="3200" dirty="0"/>
          </a:p>
        </p:txBody>
      </p:sp>
      <p:sp>
        <p:nvSpPr>
          <p:cNvPr id="3" name="timeline разогрев"/>
          <p:cNvSpPr/>
          <p:nvPr/>
        </p:nvSpPr>
        <p:spPr>
          <a:xfrm>
            <a:off x="548640" y="1417320"/>
            <a:ext cx="814832" cy="548640"/>
          </a:xfrm>
          <a:prstGeom prst="roundRect">
            <a:avLst>
              <a:gd name="adj" fmla="val 13333"/>
            </a:avLst>
          </a:prstGeom>
          <a:solidFill>
            <a:srgbClr val="2A3647"/>
          </a:solidFill>
          <a:ln w="6350">
            <a:solidFill>
              <a:srgbClr val="2A3647"/>
            </a:solidFill>
            <a:prstDash val="solid"/>
          </a:ln>
        </p:spPr>
      </p:sp>
      <p:sp>
        <p:nvSpPr>
          <p:cNvPr id="4" name="timeline label разогрев"/>
          <p:cNvSpPr txBox="1"/>
          <p:nvPr/>
        </p:nvSpPr>
        <p:spPr>
          <a:xfrm>
            <a:off x="548640" y="1417320"/>
            <a:ext cx="81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5"/>
                </a:solidFill>
              </a:rPr>
              <a:t>разогрев</a:t>
            </a:r>
            <a:endParaRPr lang="en-US" sz="1000" dirty="0"/>
          </a:p>
        </p:txBody>
      </p:sp>
      <p:sp>
        <p:nvSpPr>
          <p:cNvPr id="5" name="timeline train · дни 7–59"/>
          <p:cNvSpPr/>
          <p:nvPr/>
        </p:nvSpPr>
        <p:spPr>
          <a:xfrm>
            <a:off x="1409192" y="1417320"/>
            <a:ext cx="6469888" cy="548640"/>
          </a:xfrm>
          <a:prstGeom prst="roundRect">
            <a:avLst>
              <a:gd name="adj" fmla="val 13333"/>
            </a:avLst>
          </a:prstGeom>
          <a:solidFill>
            <a:srgbClr val="3987E5">
              <a:alpha val="70000"/>
            </a:srgbClr>
          </a:solidFill>
          <a:ln w="6350">
            <a:solidFill>
              <a:srgbClr val="3987E5"/>
            </a:solidFill>
            <a:prstDash val="solid"/>
          </a:ln>
        </p:spPr>
      </p:sp>
      <p:sp>
        <p:nvSpPr>
          <p:cNvPr id="6" name="timeline label train · дни 7–59"/>
          <p:cNvSpPr txBox="1"/>
          <p:nvPr/>
        </p:nvSpPr>
        <p:spPr>
          <a:xfrm>
            <a:off x="1409192" y="1417320"/>
            <a:ext cx="646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5"/>
                </a:solidFill>
              </a:rPr>
              <a:t>train · дни 7–59</a:t>
            </a:r>
            <a:endParaRPr lang="en-US" sz="1300" dirty="0"/>
          </a:p>
        </p:txBody>
      </p:sp>
      <p:sp>
        <p:nvSpPr>
          <p:cNvPr id="7" name="timeline validation · 60–74"/>
          <p:cNvSpPr/>
          <p:nvPr/>
        </p:nvSpPr>
        <p:spPr>
          <a:xfrm>
            <a:off x="7924800" y="1417320"/>
            <a:ext cx="1798320" cy="548640"/>
          </a:xfrm>
          <a:prstGeom prst="roundRect">
            <a:avLst>
              <a:gd name="adj" fmla="val 13333"/>
            </a:avLst>
          </a:prstGeom>
          <a:solidFill>
            <a:srgbClr val="9085E9">
              <a:alpha val="70000"/>
            </a:srgbClr>
          </a:solidFill>
          <a:ln w="6350">
            <a:solidFill>
              <a:srgbClr val="9085E9"/>
            </a:solidFill>
            <a:prstDash val="solid"/>
          </a:ln>
        </p:spPr>
      </p:sp>
      <p:sp>
        <p:nvSpPr>
          <p:cNvPr id="8" name="timeline label validation · 60–74"/>
          <p:cNvSpPr txBox="1"/>
          <p:nvPr/>
        </p:nvSpPr>
        <p:spPr>
          <a:xfrm>
            <a:off x="7924800" y="1417320"/>
            <a:ext cx="179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5"/>
                </a:solidFill>
              </a:rPr>
              <a:t>validation · 60–74</a:t>
            </a:r>
            <a:endParaRPr lang="en-US" sz="1300" dirty="0"/>
          </a:p>
        </p:txBody>
      </p:sp>
      <p:sp>
        <p:nvSpPr>
          <p:cNvPr id="9" name="timeline test · 75–89"/>
          <p:cNvSpPr/>
          <p:nvPr/>
        </p:nvSpPr>
        <p:spPr>
          <a:xfrm>
            <a:off x="9768840" y="1417320"/>
            <a:ext cx="1798320" cy="548640"/>
          </a:xfrm>
          <a:prstGeom prst="roundRect">
            <a:avLst>
              <a:gd name="adj" fmla="val 13333"/>
            </a:avLst>
          </a:prstGeom>
          <a:solidFill>
            <a:srgbClr val="2CC5B0">
              <a:alpha val="70000"/>
            </a:srgbClr>
          </a:solidFill>
          <a:ln w="6350">
            <a:solidFill>
              <a:srgbClr val="2CC5B0"/>
            </a:solidFill>
            <a:prstDash val="solid"/>
          </a:ln>
        </p:spPr>
      </p:sp>
      <p:sp>
        <p:nvSpPr>
          <p:cNvPr id="10" name="timeline label test · 75–89"/>
          <p:cNvSpPr txBox="1"/>
          <p:nvPr/>
        </p:nvSpPr>
        <p:spPr>
          <a:xfrm>
            <a:off x="9768840" y="1417320"/>
            <a:ext cx="179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5"/>
                </a:solidFill>
              </a:rPr>
              <a:t>test · 75–89</a:t>
            </a:r>
            <a:endParaRPr lang="en-US" sz="1300" dirty="0"/>
          </a:p>
        </p:txBody>
      </p:sp>
      <p:sp>
        <p:nvSpPr>
          <p:cNvPr id="11" name="timeline caption"/>
          <p:cNvSpPr txBox="1"/>
          <p:nvPr/>
        </p:nvSpPr>
        <p:spPr>
          <a:xfrm>
            <a:off x="548640" y="2057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90 дней синтетической истории банка · 3 000 клиентов · 145 тыс. операций · seed 42</a:t>
            </a:r>
            <a:endParaRPr lang="en-US" sz="1200" dirty="0"/>
          </a:p>
        </p:txBody>
      </p:sp>
      <p:sp>
        <p:nvSpPr>
          <p:cNvPr id="12" name="method 1"/>
          <p:cNvSpPr/>
          <p:nvPr/>
        </p:nvSpPr>
        <p:spPr>
          <a:xfrm>
            <a:off x="548640" y="2606040"/>
            <a:ext cx="5458968" cy="1069848"/>
          </a:xfrm>
          <a:prstGeom prst="roundRect">
            <a:avLst>
              <a:gd name="adj" fmla="val 1025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3" name="method title 1"/>
          <p:cNvSpPr txBox="1"/>
          <p:nvPr/>
        </p:nvSpPr>
        <p:spPr>
          <a:xfrm>
            <a:off x="777240" y="2724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Мошенничество 3 типов</a:t>
            </a:r>
            <a:endParaRPr lang="en-US" sz="1500" dirty="0"/>
          </a:p>
        </p:txBody>
      </p:sp>
      <p:sp>
        <p:nvSpPr>
          <p:cNvPr id="14" name="method text 1"/>
          <p:cNvSpPr txBox="1"/>
          <p:nvPr/>
        </p:nvSpPr>
        <p:spPr>
          <a:xfrm>
            <a:off x="777240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захват аккаунта, социальная инженерия, сети мулов (пересылка)</a:t>
            </a:r>
            <a:endParaRPr lang="en-US" sz="1200" dirty="0"/>
          </a:p>
        </p:txBody>
      </p:sp>
      <p:sp>
        <p:nvSpPr>
          <p:cNvPr id="15" name="method 2"/>
          <p:cNvSpPr/>
          <p:nvPr/>
        </p:nvSpPr>
        <p:spPr>
          <a:xfrm>
            <a:off x="6153912" y="2606040"/>
            <a:ext cx="5458968" cy="1069848"/>
          </a:xfrm>
          <a:prstGeom prst="roundRect">
            <a:avLst>
              <a:gd name="adj" fmla="val 1025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6" name="method title 2"/>
          <p:cNvSpPr txBox="1"/>
          <p:nvPr/>
        </p:nvSpPr>
        <p:spPr>
          <a:xfrm>
            <a:off x="6382512" y="2724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9 типов «честного, но необычного»</a:t>
            </a:r>
            <a:endParaRPr lang="en-US" sz="1500" dirty="0"/>
          </a:p>
        </p:txBody>
      </p:sp>
      <p:sp>
        <p:nvSpPr>
          <p:cNvPr id="17" name="method text 2"/>
          <p:cNvSpPr txBox="1"/>
          <p:nvPr/>
        </p:nvSpPr>
        <p:spPr>
          <a:xfrm>
            <a:off x="6382512" y="3063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путешествия, новый телефон, крупные покупки, смена привычек, переводы новым счетам, без телеметрии…</a:t>
            </a:r>
            <a:endParaRPr lang="en-US" sz="1200" dirty="0"/>
          </a:p>
        </p:txBody>
      </p:sp>
      <p:sp>
        <p:nvSpPr>
          <p:cNvPr id="18" name="method 3"/>
          <p:cNvSpPr/>
          <p:nvPr/>
        </p:nvSpPr>
        <p:spPr>
          <a:xfrm>
            <a:off x="548640" y="3813048"/>
            <a:ext cx="5458968" cy="1069848"/>
          </a:xfrm>
          <a:prstGeom prst="roundRect">
            <a:avLst>
              <a:gd name="adj" fmla="val 1025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9" name="method title 3"/>
          <p:cNvSpPr txBox="1"/>
          <p:nvPr/>
        </p:nvSpPr>
        <p:spPr>
          <a:xfrm>
            <a:off x="777240" y="39319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Защита от утечек</a:t>
            </a:r>
            <a:endParaRPr lang="en-US" sz="1500" dirty="0"/>
          </a:p>
        </p:txBody>
      </p:sp>
      <p:sp>
        <p:nvSpPr>
          <p:cNvPr id="20" name="method text 3"/>
          <p:cNvSpPr txBox="1"/>
          <p:nvPr/>
        </p:nvSpPr>
        <p:spPr>
          <a:xfrm>
            <a:off x="777240" y="4270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признаки только из прошлого; жалобы с задержкой 6–120 ч; модель и пороги — только по validation; test — один раз</a:t>
            </a:r>
            <a:endParaRPr lang="en-US" sz="1200" dirty="0"/>
          </a:p>
        </p:txBody>
      </p:sp>
      <p:sp>
        <p:nvSpPr>
          <p:cNvPr id="21" name="method 4"/>
          <p:cNvSpPr/>
          <p:nvPr/>
        </p:nvSpPr>
        <p:spPr>
          <a:xfrm>
            <a:off x="6153912" y="3813048"/>
            <a:ext cx="5458968" cy="1069848"/>
          </a:xfrm>
          <a:prstGeom prst="roundRect">
            <a:avLst>
              <a:gd name="adj" fmla="val 1025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2" name="method title 4"/>
          <p:cNvSpPr txBox="1"/>
          <p:nvPr/>
        </p:nvSpPr>
        <p:spPr>
          <a:xfrm>
            <a:off x="6382512" y="39319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6 систем</a:t>
            </a:r>
            <a:endParaRPr lang="en-US" sz="1500" dirty="0"/>
          </a:p>
        </p:txBody>
      </p:sp>
      <p:sp>
        <p:nvSpPr>
          <p:cNvPr id="23" name="method text 4"/>
          <p:cNvSpPr txBox="1"/>
          <p:nvPr/>
        </p:nvSpPr>
        <p:spPr>
          <a:xfrm>
            <a:off x="6382512" y="4270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правила · LR и бустинг на транзакциях · LR, случайный лес и бустинг на гибридных признаках</a:t>
            </a:r>
            <a:endParaRPr lang="en-US" sz="1200" dirty="0"/>
          </a:p>
        </p:txBody>
      </p:sp>
      <p:sp>
        <p:nvSpPr>
          <p:cNvPr id="24" name="method 5"/>
          <p:cNvSpPr/>
          <p:nvPr/>
        </p:nvSpPr>
        <p:spPr>
          <a:xfrm>
            <a:off x="548640" y="5020056"/>
            <a:ext cx="5458968" cy="1069848"/>
          </a:xfrm>
          <a:prstGeom prst="roundRect">
            <a:avLst>
              <a:gd name="adj" fmla="val 1025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5" name="method title 5"/>
          <p:cNvSpPr txBox="1"/>
          <p:nvPr/>
        </p:nvSpPr>
        <p:spPr>
          <a:xfrm>
            <a:off x="777240" y="5138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Устойчивость</a:t>
            </a:r>
            <a:endParaRPr lang="en-US" sz="1500" dirty="0"/>
          </a:p>
        </p:txBody>
      </p:sp>
      <p:sp>
        <p:nvSpPr>
          <p:cNvPr id="26" name="method text 5"/>
          <p:cNvSpPr txBox="1"/>
          <p:nvPr/>
        </p:nvSpPr>
        <p:spPr>
          <a:xfrm>
            <a:off x="777240" y="547725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повтор на 2 других seed и 3 «жёстких» вариантах данных; 95% CI бутстрэпом</a:t>
            </a:r>
            <a:endParaRPr lang="en-US" sz="1200" dirty="0"/>
          </a:p>
        </p:txBody>
      </p:sp>
      <p:sp>
        <p:nvSpPr>
          <p:cNvPr id="27" name="method 6"/>
          <p:cNvSpPr/>
          <p:nvPr/>
        </p:nvSpPr>
        <p:spPr>
          <a:xfrm>
            <a:off x="6153912" y="5020056"/>
            <a:ext cx="5458968" cy="1069848"/>
          </a:xfrm>
          <a:prstGeom prst="roundRect">
            <a:avLst>
              <a:gd name="adj" fmla="val 1025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8" name="method title 6"/>
          <p:cNvSpPr txBox="1"/>
          <p:nvPr/>
        </p:nvSpPr>
        <p:spPr>
          <a:xfrm>
            <a:off x="6382512" y="5138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B219"/>
                </a:solidFill>
              </a:rPr>
              <a:t>Найден и исправлен баг</a:t>
            </a:r>
            <a:endParaRPr lang="en-US" sz="1500" dirty="0"/>
          </a:p>
        </p:txBody>
      </p:sp>
      <p:sp>
        <p:nvSpPr>
          <p:cNvPr id="29" name="method text 6"/>
          <p:cNvSpPr txBox="1"/>
          <p:nvPr/>
        </p:nvSpPr>
        <p:spPr>
          <a:xfrm>
            <a:off x="6382512" y="547725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окно «транзакций за 24 ч» считало 24 дня — всё пересчитано после исправления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Результаты на тесте (синтетика)</a:t>
            </a:r>
            <a:endParaRPr lang="en-US" sz="3200" dirty="0"/>
          </a:p>
        </p:txBody>
      </p:sp>
      <p:sp>
        <p:nvSpPr>
          <p:cNvPr id="3" name="results chart card"/>
          <p:cNvSpPr/>
          <p:nvPr/>
        </p:nvSpPr>
        <p:spPr>
          <a:xfrm>
            <a:off x="548640" y="1371600"/>
            <a:ext cx="6035040" cy="4754880"/>
          </a:xfrm>
          <a:prstGeom prst="roundRect">
            <a:avLst>
              <a:gd name="adj" fmla="val 2308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graphicFrame>
        <p:nvGraphicFramePr>
          <p:cNvPr id="4" name="results chart" descr=""/>
          <p:cNvGraphicFramePr/>
          <p:nvPr/>
        </p:nvGraphicFramePr>
        <p:xfrm>
          <a:off x="685800" y="146304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pr drop card"/>
          <p:cNvSpPr/>
          <p:nvPr/>
        </p:nvSpPr>
        <p:spPr>
          <a:xfrm>
            <a:off x="6858000" y="137160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6" name="fpr drop value"/>
          <p:cNvSpPr txBox="1"/>
          <p:nvPr/>
        </p:nvSpPr>
        <p:spPr>
          <a:xfrm>
            <a:off x="7086600" y="1536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C5B0"/>
                </a:solidFill>
              </a:rPr>
              <a:t>4,78% → 0,07%</a:t>
            </a:r>
            <a:endParaRPr lang="en-US" sz="2200" dirty="0"/>
          </a:p>
        </p:txBody>
      </p:sp>
      <p:sp>
        <p:nvSpPr>
          <p:cNvPr id="7" name="fpr drop label"/>
          <p:cNvSpPr txBox="1"/>
          <p:nvPr/>
        </p:nvSpPr>
        <p:spPr>
          <a:xfrm>
            <a:off x="7086600" y="215798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ложных тревог при равном recall: в 65 раз меньше</a:t>
            </a:r>
            <a:endParaRPr lang="en-US" sz="1100" dirty="0"/>
          </a:p>
        </p:txBody>
      </p:sp>
      <p:sp>
        <p:nvSpPr>
          <p:cNvPr id="8" name="roc card"/>
          <p:cNvSpPr/>
          <p:nvPr/>
        </p:nvSpPr>
        <p:spPr>
          <a:xfrm>
            <a:off x="9326880" y="137160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9" name="roc value"/>
          <p:cNvSpPr txBox="1"/>
          <p:nvPr/>
        </p:nvSpPr>
        <p:spPr>
          <a:xfrm>
            <a:off x="9555480" y="1536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C5B0"/>
                </a:solidFill>
              </a:rPr>
              <a:t>0,990</a:t>
            </a:r>
            <a:endParaRPr lang="en-US" sz="3200" dirty="0"/>
          </a:p>
        </p:txBody>
      </p:sp>
      <p:sp>
        <p:nvSpPr>
          <p:cNvPr id="10" name="roc label"/>
          <p:cNvSpPr txBox="1"/>
          <p:nvPr/>
        </p:nvSpPr>
        <p:spPr>
          <a:xfrm>
            <a:off x="9555480" y="215798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ROC-AUC, 95% CI 0,985–0,994; цель 0,94</a:t>
            </a:r>
            <a:endParaRPr lang="en-US" sz="1100" dirty="0"/>
          </a:p>
        </p:txBody>
      </p:sp>
      <p:sp>
        <p:nvSpPr>
          <p:cNvPr id="11" name="stepup card"/>
          <p:cNvSpPr/>
          <p:nvPr/>
        </p:nvSpPr>
        <p:spPr>
          <a:xfrm>
            <a:off x="6858000" y="283464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2" name="stepup value"/>
          <p:cNvSpPr txBox="1"/>
          <p:nvPr/>
        </p:nvSpPr>
        <p:spPr>
          <a:xfrm>
            <a:off x="7086600" y="29992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87E5"/>
                </a:solidFill>
              </a:rPr>
              <a:t>85,9%</a:t>
            </a:r>
            <a:endParaRPr lang="en-US" sz="3200" dirty="0"/>
          </a:p>
        </p:txBody>
      </p:sp>
      <p:sp>
        <p:nvSpPr>
          <p:cNvPr id="13" name="stepup label"/>
          <p:cNvSpPr txBox="1"/>
          <p:nvPr/>
        </p:nvSpPr>
        <p:spPr>
          <a:xfrm>
            <a:off x="7086600" y="362102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мошенничества → step-up при FPR 1,04%</a:t>
            </a:r>
            <a:endParaRPr lang="en-US" sz="1100" dirty="0"/>
          </a:p>
        </p:txBody>
      </p:sp>
      <p:sp>
        <p:nvSpPr>
          <p:cNvPr id="14" name="high precision card"/>
          <p:cNvSpPr/>
          <p:nvPr/>
        </p:nvSpPr>
        <p:spPr>
          <a:xfrm>
            <a:off x="9326880" y="283464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5" name="high precision value"/>
          <p:cNvSpPr txBox="1"/>
          <p:nvPr/>
        </p:nvSpPr>
        <p:spPr>
          <a:xfrm>
            <a:off x="9555480" y="29992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87E5"/>
                </a:solidFill>
              </a:rPr>
              <a:t>91,6%</a:t>
            </a:r>
            <a:endParaRPr lang="en-US" sz="3200" dirty="0"/>
          </a:p>
        </p:txBody>
      </p:sp>
      <p:sp>
        <p:nvSpPr>
          <p:cNvPr id="16" name="high precision label"/>
          <p:cNvSpPr txBox="1"/>
          <p:nvPr/>
        </p:nvSpPr>
        <p:spPr>
          <a:xfrm>
            <a:off x="9555480" y="362102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точность уровня HIGH (precision)</a:t>
            </a:r>
            <a:endParaRPr lang="en-US" sz="1100" dirty="0"/>
          </a:p>
        </p:txBody>
      </p:sp>
      <p:sp>
        <p:nvSpPr>
          <p:cNvPr id="17" name="latency card"/>
          <p:cNvSpPr/>
          <p:nvPr/>
        </p:nvSpPr>
        <p:spPr>
          <a:xfrm>
            <a:off x="6858000" y="429768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8" name="latency value"/>
          <p:cNvSpPr txBox="1"/>
          <p:nvPr/>
        </p:nvSpPr>
        <p:spPr>
          <a:xfrm>
            <a:off x="7086600" y="44622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C5B0"/>
                </a:solidFill>
              </a:rPr>
              <a:t>15,7 мс</a:t>
            </a:r>
            <a:endParaRPr lang="en-US" sz="3000" dirty="0"/>
          </a:p>
        </p:txBody>
      </p:sp>
      <p:sp>
        <p:nvSpPr>
          <p:cNvPr id="19" name="latency label"/>
          <p:cNvSpPr txBox="1"/>
          <p:nvPr/>
        </p:nvSpPr>
        <p:spPr>
          <a:xfrm>
            <a:off x="7086600" y="50840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p95 HTTP-запроса; модель 6,1 мс; цель &lt; 50</a:t>
            </a:r>
            <a:endParaRPr lang="en-US" sz="1100" dirty="0"/>
          </a:p>
        </p:txBody>
      </p:sp>
      <p:sp>
        <p:nvSpPr>
          <p:cNvPr id="20" name="robust card"/>
          <p:cNvSpPr/>
          <p:nvPr/>
        </p:nvSpPr>
        <p:spPr>
          <a:xfrm>
            <a:off x="9326880" y="4297680"/>
            <a:ext cx="23317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1" name="robust value"/>
          <p:cNvSpPr txBox="1"/>
          <p:nvPr/>
        </p:nvSpPr>
        <p:spPr>
          <a:xfrm>
            <a:off x="9555480" y="44622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219"/>
                </a:solidFill>
              </a:rPr>
              <a:t>0,81–0,88</a:t>
            </a:r>
            <a:endParaRPr lang="en-US" sz="3000" dirty="0"/>
          </a:p>
        </p:txBody>
      </p:sp>
      <p:sp>
        <p:nvSpPr>
          <p:cNvPr id="22" name="robust label"/>
          <p:cNvSpPr txBox="1"/>
          <p:nvPr/>
        </p:nvSpPr>
        <p:spPr>
          <a:xfrm>
            <a:off x="9555480" y="50840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PR-AUC на других seed и жёстких данных</a:t>
            </a:r>
            <a:endParaRPr lang="en-US" sz="1100" dirty="0"/>
          </a:p>
        </p:txBody>
      </p:sp>
      <p:sp>
        <p:nvSpPr>
          <p:cNvPr id="23" name="results caveat"/>
          <p:cNvSpPr txBox="1"/>
          <p:nvPr/>
        </p:nvSpPr>
        <p:spPr>
          <a:xfrm>
            <a:off x="6858000" y="5760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AB219"/>
                </a:solidFill>
              </a:rPr>
              <a:t>Синтетические данные: результаты показывают работоспособность подхода, а не эффективность в реальном банке.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Бизнес-кейс: окупается при достаточном объёме</a:t>
            </a:r>
            <a:endParaRPr lang="en-US" sz="3200" dirty="0"/>
          </a:p>
        </p:txBody>
      </p:sp>
      <p:sp>
        <p:nvSpPr>
          <p:cNvPr id="3" name="economics chart card"/>
          <p:cNvSpPr/>
          <p:nvPr/>
        </p:nvSpPr>
        <p:spPr>
          <a:xfrm>
            <a:off x="548640" y="1371600"/>
            <a:ext cx="6675120" cy="4754880"/>
          </a:xfrm>
          <a:prstGeom prst="roundRect">
            <a:avLst>
              <a:gd name="adj" fmla="val 2308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graphicFrame>
        <p:nvGraphicFramePr>
          <p:cNvPr id="4" name="economics chart" descr=""/>
          <p:cNvGraphicFramePr/>
          <p:nvPr/>
        </p:nvGraphicFramePr>
        <p:xfrm>
          <a:off x="685800" y="146304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ase net card"/>
          <p:cNvSpPr/>
          <p:nvPr/>
        </p:nvSpPr>
        <p:spPr>
          <a:xfrm>
            <a:off x="7498080" y="1371600"/>
            <a:ext cx="41605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6" name="base net value"/>
          <p:cNvSpPr txBox="1"/>
          <p:nvPr/>
        </p:nvSpPr>
        <p:spPr>
          <a:xfrm>
            <a:off x="7726680" y="15361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C5B0"/>
                </a:solidFill>
              </a:rPr>
              <a:t>0,14 млрд ₸</a:t>
            </a:r>
            <a:endParaRPr lang="en-US" sz="3000" dirty="0"/>
          </a:p>
        </p:txBody>
      </p:sp>
      <p:sp>
        <p:nvSpPr>
          <p:cNvPr id="7" name="base net label"/>
          <p:cNvSpPr txBox="1"/>
          <p:nvPr/>
        </p:nvSpPr>
        <p:spPr>
          <a:xfrm>
            <a:off x="7726680" y="215798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чистый эффект в год, базовый сценарий (50 млн переводов)</a:t>
            </a:r>
            <a:endParaRPr lang="en-US" sz="1200" dirty="0"/>
          </a:p>
        </p:txBody>
      </p:sp>
      <p:sp>
        <p:nvSpPr>
          <p:cNvPr id="8" name="cons net card"/>
          <p:cNvSpPr/>
          <p:nvPr/>
        </p:nvSpPr>
        <p:spPr>
          <a:xfrm>
            <a:off x="7498080" y="2834640"/>
            <a:ext cx="41605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9" name="cons net value"/>
          <p:cNvSpPr txBox="1"/>
          <p:nvPr/>
        </p:nvSpPr>
        <p:spPr>
          <a:xfrm>
            <a:off x="7726680" y="299923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252"/>
                </a:solidFill>
              </a:rPr>
              <a:t>-0,19 млрд ₸</a:t>
            </a:r>
            <a:endParaRPr lang="en-US" sz="3000" dirty="0"/>
          </a:p>
        </p:txBody>
      </p:sp>
      <p:sp>
        <p:nvSpPr>
          <p:cNvPr id="10" name="cons net label"/>
          <p:cNvSpPr txBox="1"/>
          <p:nvPr/>
        </p:nvSpPr>
        <p:spPr>
          <a:xfrm>
            <a:off x="7726680" y="362102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консервативный сценарий: малый объём — проект не окупается</a:t>
            </a:r>
            <a:endParaRPr lang="en-US" sz="1200" dirty="0"/>
          </a:p>
        </p:txBody>
      </p:sp>
      <p:sp>
        <p:nvSpPr>
          <p:cNvPr id="11" name="break-even card"/>
          <p:cNvSpPr/>
          <p:nvPr/>
        </p:nvSpPr>
        <p:spPr>
          <a:xfrm>
            <a:off x="7498080" y="4297680"/>
            <a:ext cx="4160520" cy="1325880"/>
          </a:xfrm>
          <a:prstGeom prst="roundRect">
            <a:avLst>
              <a:gd name="adj" fmla="val 8276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2" name="break-even value"/>
          <p:cNvSpPr txBox="1"/>
          <p:nvPr/>
        </p:nvSpPr>
        <p:spPr>
          <a:xfrm>
            <a:off x="7726680" y="44622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219"/>
                </a:solidFill>
              </a:rPr>
              <a:t>≥ 27 млн</a:t>
            </a:r>
            <a:endParaRPr lang="en-US" sz="3000" dirty="0"/>
          </a:p>
        </p:txBody>
      </p:sp>
      <p:sp>
        <p:nvSpPr>
          <p:cNvPr id="13" name="break-even label"/>
          <p:cNvSpPr txBox="1"/>
          <p:nvPr/>
        </p:nvSpPr>
        <p:spPr>
          <a:xfrm>
            <a:off x="7726680" y="5084064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переводов в год для безубыточности; или снижение FPR ≥ 51,5%, или +4,3 п.п. recall</a:t>
            </a:r>
            <a:endParaRPr lang="en-US" sz="1200" dirty="0"/>
          </a:p>
        </p:txBody>
      </p:sp>
      <p:sp>
        <p:nvSpPr>
          <p:cNvPr id="14" name="eco caveat"/>
          <p:cNvSpPr txBox="1"/>
          <p:nvPr/>
        </p:nvSpPr>
        <p:spPr>
          <a:xfrm>
            <a:off x="7498080" y="57607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A"/>
                </a:solidFill>
              </a:rPr>
              <a:t>Параметры банка — допущения. Снижение FPR в сценариях 20–60%, а не синтетические 98,5%.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Безопасность, приватность и честные ограничения</a:t>
            </a:r>
            <a:endParaRPr lang="en-US" sz="3200" dirty="0"/>
          </a:p>
        </p:txBody>
      </p:sp>
      <p:sp>
        <p:nvSpPr>
          <p:cNvPr id="3" name="done header"/>
          <p:cNvSpPr txBox="1"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C5B0"/>
                </a:solidFill>
              </a:rPr>
              <a:t>Что сделано</a:t>
            </a:r>
            <a:endParaRPr lang="en-US" sz="1800" dirty="0"/>
          </a:p>
        </p:txBody>
      </p:sp>
      <p:sp>
        <p:nvSpPr>
          <p:cNvPr id="4" name="done 1"/>
          <p:cNvSpPr/>
          <p:nvPr/>
        </p:nvSpPr>
        <p:spPr>
          <a:xfrm>
            <a:off x="548640" y="1783080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5" name="done icon 1 circle"/>
          <p:cNvSpPr/>
          <p:nvPr/>
        </p:nvSpPr>
        <p:spPr>
          <a:xfrm>
            <a:off x="713232" y="1947672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6" name="don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956" y="2072396"/>
            <a:ext cx="317480" cy="317480"/>
          </a:xfrm>
          <a:prstGeom prst="rect">
            <a:avLst/>
          </a:prstGeom>
        </p:spPr>
      </p:pic>
      <p:sp>
        <p:nvSpPr>
          <p:cNvPr id="7" name="done text 1"/>
          <p:cNvSpPr txBox="1"/>
          <p:nvPr/>
        </p:nvSpPr>
        <p:spPr>
          <a:xfrm>
            <a:off x="1463040" y="18928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</a:rPr>
              <a:t>Валидация, лимиты тела и пакета, rate limit, CSP, аудит каждого решения</a:t>
            </a:r>
            <a:endParaRPr lang="en-US" sz="1300" dirty="0"/>
          </a:p>
        </p:txBody>
      </p:sp>
      <p:sp>
        <p:nvSpPr>
          <p:cNvPr id="8" name="done 2"/>
          <p:cNvSpPr/>
          <p:nvPr/>
        </p:nvSpPr>
        <p:spPr>
          <a:xfrm>
            <a:off x="548640" y="2807208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9" name="done icon 2 circle"/>
          <p:cNvSpPr/>
          <p:nvPr/>
        </p:nvSpPr>
        <p:spPr>
          <a:xfrm>
            <a:off x="713232" y="2971800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0" name="don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56" y="3096524"/>
            <a:ext cx="317480" cy="317480"/>
          </a:xfrm>
          <a:prstGeom prst="rect">
            <a:avLst/>
          </a:prstGeom>
        </p:spPr>
      </p:pic>
      <p:sp>
        <p:nvSpPr>
          <p:cNvPr id="11" name="done text 2"/>
          <p:cNvSpPr txBox="1"/>
          <p:nvPr/>
        </p:nvSpPr>
        <p:spPr>
          <a:xfrm>
            <a:off x="1463040" y="291693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</a:rPr>
              <a:t>Нет имён, карт, переписки, звонков — только псевдонимные ID и агрегаты</a:t>
            </a:r>
            <a:endParaRPr lang="en-US" sz="1300" dirty="0"/>
          </a:p>
        </p:txBody>
      </p:sp>
      <p:sp>
        <p:nvSpPr>
          <p:cNvPr id="12" name="done 3"/>
          <p:cNvSpPr/>
          <p:nvPr/>
        </p:nvSpPr>
        <p:spPr>
          <a:xfrm>
            <a:off x="548640" y="3831336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3" name="done icon 3 circle"/>
          <p:cNvSpPr/>
          <p:nvPr/>
        </p:nvSpPr>
        <p:spPr>
          <a:xfrm>
            <a:off x="713232" y="3995928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4" name="don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" y="4120652"/>
            <a:ext cx="317480" cy="317480"/>
          </a:xfrm>
          <a:prstGeom prst="rect">
            <a:avLst/>
          </a:prstGeom>
        </p:spPr>
      </p:pic>
      <p:sp>
        <p:nvSpPr>
          <p:cNvPr id="15" name="done text 3"/>
          <p:cNvSpPr txBox="1"/>
          <p:nvPr/>
        </p:nvSpPr>
        <p:spPr>
          <a:xfrm>
            <a:off x="1463040" y="394106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</a:rPr>
              <a:t>Поведение только с согласия; нет данных — так и пишем, не додумываем</a:t>
            </a:r>
            <a:endParaRPr lang="en-US" sz="1300" dirty="0"/>
          </a:p>
        </p:txBody>
      </p:sp>
      <p:sp>
        <p:nvSpPr>
          <p:cNvPr id="16" name="done 4"/>
          <p:cNvSpPr/>
          <p:nvPr/>
        </p:nvSpPr>
        <p:spPr>
          <a:xfrm>
            <a:off x="548640" y="4855464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7" name="done icon 4 circle"/>
          <p:cNvSpPr/>
          <p:nvPr/>
        </p:nvSpPr>
        <p:spPr>
          <a:xfrm>
            <a:off x="713232" y="5020056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18" name="don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56" y="5144780"/>
            <a:ext cx="317480" cy="317480"/>
          </a:xfrm>
          <a:prstGeom prst="rect">
            <a:avLst/>
          </a:prstGeom>
        </p:spPr>
      </p:pic>
      <p:sp>
        <p:nvSpPr>
          <p:cNvPr id="19" name="done text 4"/>
          <p:cNvSpPr txBox="1"/>
          <p:nvPr/>
        </p:nvSpPr>
        <p:spPr>
          <a:xfrm>
            <a:off x="1463040" y="496519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5"/>
                </a:solidFill>
              </a:rPr>
              <a:t>Удержание — рекомендация; одно поведение не даёт HIGH</a:t>
            </a:r>
            <a:endParaRPr lang="en-US" sz="1300" dirty="0"/>
          </a:p>
        </p:txBody>
      </p:sp>
      <p:sp>
        <p:nvSpPr>
          <p:cNvPr id="20" name="limits header"/>
          <p:cNvSpPr txBox="1"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AB219"/>
                </a:solidFill>
              </a:rPr>
              <a:t>Проверено и что осталось</a:t>
            </a:r>
            <a:endParaRPr lang="en-US" sz="1800" dirty="0"/>
          </a:p>
        </p:txBody>
      </p:sp>
      <p:sp>
        <p:nvSpPr>
          <p:cNvPr id="21" name="limit 1"/>
          <p:cNvSpPr/>
          <p:nvPr/>
        </p:nvSpPr>
        <p:spPr>
          <a:xfrm>
            <a:off x="6263640" y="1783080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2" name="limit icon 1 circle"/>
          <p:cNvSpPr/>
          <p:nvPr/>
        </p:nvSpPr>
        <p:spPr>
          <a:xfrm>
            <a:off x="6428232" y="1947672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23" name="limit icon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956" y="2072396"/>
            <a:ext cx="317480" cy="317480"/>
          </a:xfrm>
          <a:prstGeom prst="rect">
            <a:avLst/>
          </a:prstGeom>
        </p:spPr>
      </p:pic>
      <p:sp>
        <p:nvSpPr>
          <p:cNvPr id="24" name="limit title 1"/>
          <p:cNvSpPr txBox="1"/>
          <p:nvPr/>
        </p:nvSpPr>
        <p:spPr>
          <a:xfrm>
            <a:off x="7178040" y="18745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</a:rPr>
              <a:t>Синтетические данные</a:t>
            </a:r>
            <a:endParaRPr lang="en-US" sz="1300" dirty="0"/>
          </a:p>
        </p:txBody>
      </p:sp>
      <p:sp>
        <p:nvSpPr>
          <p:cNvPr id="25" name="limit next 1"/>
          <p:cNvSpPr txBox="1"/>
          <p:nvPr/>
        </p:nvSpPr>
        <p:spPr>
          <a:xfrm>
            <a:off x="7178040" y="22585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→ повтор на исторических данных банка (этап 1)</a:t>
            </a:r>
            <a:endParaRPr lang="en-US" sz="1200" dirty="0"/>
          </a:p>
        </p:txBody>
      </p:sp>
      <p:sp>
        <p:nvSpPr>
          <p:cNvPr id="26" name="limit 2"/>
          <p:cNvSpPr/>
          <p:nvPr/>
        </p:nvSpPr>
        <p:spPr>
          <a:xfrm>
            <a:off x="6263640" y="2807208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7" name="limit icon 2 circle"/>
          <p:cNvSpPr/>
          <p:nvPr/>
        </p:nvSpPr>
        <p:spPr>
          <a:xfrm>
            <a:off x="6428232" y="2971800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28" name="limit icon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956" y="3096524"/>
            <a:ext cx="317480" cy="317480"/>
          </a:xfrm>
          <a:prstGeom prst="rect">
            <a:avLst/>
          </a:prstGeom>
        </p:spPr>
      </p:pic>
      <p:sp>
        <p:nvSpPr>
          <p:cNvPr id="29" name="limit title 2"/>
          <p:cNvSpPr txBox="1"/>
          <p:nvPr/>
        </p:nvSpPr>
        <p:spPr>
          <a:xfrm>
            <a:off x="7178040" y="28986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</a:rPr>
              <a:t>Счета &lt; 30 дней: ложные тревоги 9,0% (правила 2,1%)</a:t>
            </a:r>
            <a:endParaRPr lang="en-US" sz="1300" dirty="0"/>
          </a:p>
        </p:txBody>
      </p:sp>
      <p:sp>
        <p:nvSpPr>
          <p:cNvPr id="30" name="limit next 2"/>
          <p:cNvSpPr txBox="1"/>
          <p:nvPr/>
        </p:nvSpPr>
        <p:spPr>
          <a:xfrm>
            <a:off x="7178040" y="32826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→ опция отдельного порога: 1,6%, но recall здесь 96% → 90%</a:t>
            </a:r>
            <a:endParaRPr lang="en-US" sz="1200" dirty="0"/>
          </a:p>
        </p:txBody>
      </p:sp>
      <p:sp>
        <p:nvSpPr>
          <p:cNvPr id="31" name="limit 3"/>
          <p:cNvSpPr/>
          <p:nvPr/>
        </p:nvSpPr>
        <p:spPr>
          <a:xfrm>
            <a:off x="6263640" y="3831336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2" name="limit icon 3 circle"/>
          <p:cNvSpPr/>
          <p:nvPr/>
        </p:nvSpPr>
        <p:spPr>
          <a:xfrm>
            <a:off x="6428232" y="3995928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33" name="limit icon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956" y="4120652"/>
            <a:ext cx="317480" cy="317480"/>
          </a:xfrm>
          <a:prstGeom prst="rect">
            <a:avLst/>
          </a:prstGeom>
        </p:spPr>
      </p:pic>
      <p:sp>
        <p:nvSpPr>
          <p:cNvPr id="34" name="limit title 3"/>
          <p:cNvSpPr txBox="1"/>
          <p:nvPr/>
        </p:nvSpPr>
        <p:spPr>
          <a:xfrm>
            <a:off x="7178040" y="392277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</a:rPr>
              <a:t>Хитрый мошенник: −2,5…12,4 п.п. за 1 сигнал</a:t>
            </a:r>
            <a:endParaRPr lang="en-US" sz="1300" dirty="0"/>
          </a:p>
        </p:txBody>
      </p:sp>
      <p:sp>
        <p:nvSpPr>
          <p:cNvPr id="35" name="limit next 3"/>
          <p:cNvSpPr txBox="1"/>
          <p:nvPr/>
        </p:nvSpPr>
        <p:spPr>
          <a:xfrm>
            <a:off x="7178040" y="43068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→ обучение на трюках не обобщается → нужны новые сигналы</a:t>
            </a:r>
            <a:endParaRPr lang="en-US" sz="1200" dirty="0"/>
          </a:p>
        </p:txBody>
      </p:sp>
      <p:sp>
        <p:nvSpPr>
          <p:cNvPr id="36" name="limit 4"/>
          <p:cNvSpPr/>
          <p:nvPr/>
        </p:nvSpPr>
        <p:spPr>
          <a:xfrm>
            <a:off x="6263640" y="4855464"/>
            <a:ext cx="5394960" cy="896112"/>
          </a:xfrm>
          <a:prstGeom prst="roundRect">
            <a:avLst>
              <a:gd name="adj" fmla="val 12245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7" name="limit icon 4 circle"/>
          <p:cNvSpPr/>
          <p:nvPr/>
        </p:nvSpPr>
        <p:spPr>
          <a:xfrm>
            <a:off x="6428232" y="5020056"/>
            <a:ext cx="566928" cy="566928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38" name="limit icon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956" y="5144780"/>
            <a:ext cx="317480" cy="317480"/>
          </a:xfrm>
          <a:prstGeom prst="rect">
            <a:avLst/>
          </a:prstGeom>
        </p:spPr>
      </p:pic>
      <p:sp>
        <p:nvSpPr>
          <p:cNvPr id="39" name="limit title 4"/>
          <p:cNvSpPr txBox="1"/>
          <p:nvPr/>
        </p:nvSpPr>
        <p:spPr>
          <a:xfrm>
            <a:off x="7178040" y="49469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DF5"/>
                </a:solidFill>
              </a:rPr>
              <a:t>Нагрузка: 91 → 169 запр./с (1 → 2 процесса)</a:t>
            </a:r>
            <a:endParaRPr lang="en-US" sz="1300" dirty="0"/>
          </a:p>
        </p:txBody>
      </p:sp>
      <p:sp>
        <p:nvSpPr>
          <p:cNvPr id="40" name="limit next 4"/>
          <p:cNvSpPr txBox="1"/>
          <p:nvPr/>
        </p:nvSpPr>
        <p:spPr>
          <a:xfrm>
            <a:off x="7178040" y="53309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→ задержка 44 мс у 2 процессов устранена; Docker — в CI</a:t>
            </a:r>
            <a:endParaRPr lang="en-US" sz="1200" dirty="0"/>
          </a:p>
        </p:txBody>
      </p:sp>
      <p:sp>
        <p:nvSpPr>
          <p:cNvPr id="41" name="cert note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Не сертифицировано (PCI DSS, ISO 27001). Для реального банка нужны юридическая проверка, DPIA, security review и согласие клиентов.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Дорожная карта и вывод</a:t>
            </a:r>
            <a:endParaRPr lang="en-US" sz="3200" dirty="0"/>
          </a:p>
        </p:txBody>
      </p:sp>
      <p:sp>
        <p:nvSpPr>
          <p:cNvPr id="3" name="step circle 1"/>
          <p:cNvSpPr/>
          <p:nvPr/>
        </p:nvSpPr>
        <p:spPr>
          <a:xfrm>
            <a:off x="1325880" y="1417320"/>
            <a:ext cx="594360" cy="594360"/>
          </a:xfrm>
          <a:prstGeom prst="ellipse">
            <a:avLst/>
          </a:prstGeom>
          <a:solidFill>
            <a:srgbClr val="1C2532"/>
          </a:solidFill>
          <a:ln w="15875">
            <a:solidFill>
              <a:srgbClr val="2CC5B0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13258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C5B0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tep line 1"/>
          <p:cNvSpPr/>
          <p:nvPr/>
        </p:nvSpPr>
        <p:spPr>
          <a:xfrm>
            <a:off x="1965960" y="1714500"/>
            <a:ext cx="1618488" cy="0"/>
          </a:xfrm>
          <a:prstGeom prst="line">
            <a:avLst/>
          </a:prstGeom>
          <a:noFill/>
          <a:ln w="19050">
            <a:solidFill>
              <a:srgbClr val="2A3647"/>
            </a:solidFill>
            <a:prstDash val="dash"/>
          </a:ln>
        </p:spPr>
      </p:sp>
      <p:sp>
        <p:nvSpPr>
          <p:cNvPr id="6" name="step card 1"/>
          <p:cNvSpPr/>
          <p:nvPr/>
        </p:nvSpPr>
        <p:spPr>
          <a:xfrm>
            <a:off x="548640" y="219456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7" name="step title 1"/>
          <p:cNvSpPr txBox="1"/>
          <p:nvPr/>
        </p:nvSpPr>
        <p:spPr>
          <a:xfrm>
            <a:off x="713232" y="23317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Данные и baseline</a:t>
            </a:r>
            <a:endParaRPr lang="en-US" sz="1500" dirty="0"/>
          </a:p>
        </p:txBody>
      </p:sp>
      <p:sp>
        <p:nvSpPr>
          <p:cNvPr id="8" name="step text 1"/>
          <p:cNvSpPr txBox="1"/>
          <p:nvPr/>
        </p:nvSpPr>
        <p:spPr>
          <a:xfrm>
            <a:off x="713232" y="292608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повтор эксперимента на истории банка против его реальных правил</a:t>
            </a:r>
            <a:endParaRPr lang="en-US" sz="1200" dirty="0"/>
          </a:p>
        </p:txBody>
      </p:sp>
      <p:sp>
        <p:nvSpPr>
          <p:cNvPr id="9" name="step circle 2"/>
          <p:cNvSpPr/>
          <p:nvPr/>
        </p:nvSpPr>
        <p:spPr>
          <a:xfrm>
            <a:off x="3584448" y="1417320"/>
            <a:ext cx="594360" cy="594360"/>
          </a:xfrm>
          <a:prstGeom prst="ellipse">
            <a:avLst/>
          </a:prstGeom>
          <a:solidFill>
            <a:srgbClr val="2CC5B0"/>
          </a:solidFill>
          <a:ln w="15875">
            <a:solidFill>
              <a:srgbClr val="2CC5B0"/>
            </a:solidFill>
            <a:prstDash val="solid"/>
          </a:ln>
        </p:spPr>
      </p:sp>
      <p:sp>
        <p:nvSpPr>
          <p:cNvPr id="10" name="step number 2"/>
          <p:cNvSpPr txBox="1"/>
          <p:nvPr/>
        </p:nvSpPr>
        <p:spPr>
          <a:xfrm>
            <a:off x="3584448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16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tep line 2"/>
          <p:cNvSpPr/>
          <p:nvPr/>
        </p:nvSpPr>
        <p:spPr>
          <a:xfrm>
            <a:off x="4224528" y="1714500"/>
            <a:ext cx="1618488" cy="0"/>
          </a:xfrm>
          <a:prstGeom prst="line">
            <a:avLst/>
          </a:prstGeom>
          <a:noFill/>
          <a:ln w="19050">
            <a:solidFill>
              <a:srgbClr val="2A3647"/>
            </a:solidFill>
            <a:prstDash val="dash"/>
          </a:ln>
        </p:spPr>
      </p:sp>
      <p:sp>
        <p:nvSpPr>
          <p:cNvPr id="12" name="step card 2"/>
          <p:cNvSpPr/>
          <p:nvPr/>
        </p:nvSpPr>
        <p:spPr>
          <a:xfrm>
            <a:off x="2807208" y="219456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3" name="step title 2"/>
          <p:cNvSpPr txBox="1"/>
          <p:nvPr/>
        </p:nvSpPr>
        <p:spPr>
          <a:xfrm>
            <a:off x="2971800" y="23317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Shadow mode</a:t>
            </a:r>
            <a:endParaRPr lang="en-US" sz="1500" dirty="0"/>
          </a:p>
        </p:txBody>
      </p:sp>
      <p:sp>
        <p:nvSpPr>
          <p:cNvPr id="14" name="step text 2"/>
          <p:cNvSpPr txBox="1"/>
          <p:nvPr/>
        </p:nvSpPr>
        <p:spPr>
          <a:xfrm>
            <a:off x="2971800" y="292608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оценка живого трафика без влияния на платежи, 3 мес.</a:t>
            </a:r>
            <a:endParaRPr lang="en-US" sz="1200" dirty="0"/>
          </a:p>
        </p:txBody>
      </p:sp>
      <p:sp>
        <p:nvSpPr>
          <p:cNvPr id="15" name="step circle 3"/>
          <p:cNvSpPr/>
          <p:nvPr/>
        </p:nvSpPr>
        <p:spPr>
          <a:xfrm>
            <a:off x="5843016" y="1417320"/>
            <a:ext cx="594360" cy="594360"/>
          </a:xfrm>
          <a:prstGeom prst="ellipse">
            <a:avLst/>
          </a:prstGeom>
          <a:solidFill>
            <a:srgbClr val="1C2532"/>
          </a:solidFill>
          <a:ln w="15875">
            <a:solidFill>
              <a:srgbClr val="2CC5B0"/>
            </a:solidFill>
            <a:prstDash val="solid"/>
          </a:ln>
        </p:spPr>
      </p:sp>
      <p:sp>
        <p:nvSpPr>
          <p:cNvPr id="16" name="step number 3"/>
          <p:cNvSpPr txBox="1"/>
          <p:nvPr/>
        </p:nvSpPr>
        <p:spPr>
          <a:xfrm>
            <a:off x="5843016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C5B0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tep line 3"/>
          <p:cNvSpPr/>
          <p:nvPr/>
        </p:nvSpPr>
        <p:spPr>
          <a:xfrm>
            <a:off x="6483096" y="1714500"/>
            <a:ext cx="1618488" cy="0"/>
          </a:xfrm>
          <a:prstGeom prst="line">
            <a:avLst/>
          </a:prstGeom>
          <a:noFill/>
          <a:ln w="19050">
            <a:solidFill>
              <a:srgbClr val="2A3647"/>
            </a:solidFill>
            <a:prstDash val="dash"/>
          </a:ln>
        </p:spPr>
      </p:sp>
      <p:sp>
        <p:nvSpPr>
          <p:cNvPr id="18" name="step card 3"/>
          <p:cNvSpPr/>
          <p:nvPr/>
        </p:nvSpPr>
        <p:spPr>
          <a:xfrm>
            <a:off x="5065776" y="219456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19" name="step title 3"/>
          <p:cNvSpPr txBox="1"/>
          <p:nvPr/>
        </p:nvSpPr>
        <p:spPr>
          <a:xfrm>
            <a:off x="5230368" y="23317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Контролируемый пилот</a:t>
            </a:r>
            <a:endParaRPr lang="en-US" sz="1500" dirty="0"/>
          </a:p>
        </p:txBody>
      </p:sp>
      <p:sp>
        <p:nvSpPr>
          <p:cNvPr id="20" name="step text 3"/>
          <p:cNvSpPr txBox="1"/>
          <p:nvPr/>
        </p:nvSpPr>
        <p:spPr>
          <a:xfrm>
            <a:off x="5230368" y="292608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step-up для 5% клиентов, A/B против контроля</a:t>
            </a:r>
            <a:endParaRPr lang="en-US" sz="1200" dirty="0"/>
          </a:p>
        </p:txBody>
      </p:sp>
      <p:sp>
        <p:nvSpPr>
          <p:cNvPr id="21" name="step circle 4"/>
          <p:cNvSpPr/>
          <p:nvPr/>
        </p:nvSpPr>
        <p:spPr>
          <a:xfrm>
            <a:off x="8101584" y="1417320"/>
            <a:ext cx="594360" cy="594360"/>
          </a:xfrm>
          <a:prstGeom prst="ellipse">
            <a:avLst/>
          </a:prstGeom>
          <a:solidFill>
            <a:srgbClr val="1C2532"/>
          </a:solidFill>
          <a:ln w="15875">
            <a:solidFill>
              <a:srgbClr val="2CC5B0"/>
            </a:solidFill>
            <a:prstDash val="solid"/>
          </a:ln>
        </p:spPr>
      </p:sp>
      <p:sp>
        <p:nvSpPr>
          <p:cNvPr id="22" name="step number 4"/>
          <p:cNvSpPr txBox="1"/>
          <p:nvPr/>
        </p:nvSpPr>
        <p:spPr>
          <a:xfrm>
            <a:off x="8101584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C5B0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step line 4"/>
          <p:cNvSpPr/>
          <p:nvPr/>
        </p:nvSpPr>
        <p:spPr>
          <a:xfrm>
            <a:off x="8741664" y="1714500"/>
            <a:ext cx="1618488" cy="0"/>
          </a:xfrm>
          <a:prstGeom prst="line">
            <a:avLst/>
          </a:prstGeom>
          <a:noFill/>
          <a:ln w="19050">
            <a:solidFill>
              <a:srgbClr val="2A3647"/>
            </a:solidFill>
            <a:prstDash val="dash"/>
          </a:ln>
        </p:spPr>
      </p:sp>
      <p:sp>
        <p:nvSpPr>
          <p:cNvPr id="24" name="step card 4"/>
          <p:cNvSpPr/>
          <p:nvPr/>
        </p:nvSpPr>
        <p:spPr>
          <a:xfrm>
            <a:off x="7324344" y="219456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25" name="step title 4"/>
          <p:cNvSpPr txBox="1"/>
          <p:nvPr/>
        </p:nvSpPr>
        <p:spPr>
          <a:xfrm>
            <a:off x="7488936" y="23317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Постепенный rollout</a:t>
            </a:r>
            <a:endParaRPr lang="en-US" sz="1500" dirty="0"/>
          </a:p>
        </p:txBody>
      </p:sp>
      <p:sp>
        <p:nvSpPr>
          <p:cNvPr id="26" name="step text 4"/>
          <p:cNvSpPr txBox="1"/>
          <p:nvPr/>
        </p:nvSpPr>
        <p:spPr>
          <a:xfrm>
            <a:off x="7488936" y="292608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security review, нагрузка, регулятор</a:t>
            </a:r>
            <a:endParaRPr lang="en-US" sz="1200" dirty="0"/>
          </a:p>
        </p:txBody>
      </p:sp>
      <p:sp>
        <p:nvSpPr>
          <p:cNvPr id="27" name="step circle 5"/>
          <p:cNvSpPr/>
          <p:nvPr/>
        </p:nvSpPr>
        <p:spPr>
          <a:xfrm>
            <a:off x="10360152" y="1417320"/>
            <a:ext cx="594360" cy="594360"/>
          </a:xfrm>
          <a:prstGeom prst="ellipse">
            <a:avLst/>
          </a:prstGeom>
          <a:solidFill>
            <a:srgbClr val="1C2532"/>
          </a:solidFill>
          <a:ln w="15875">
            <a:solidFill>
              <a:srgbClr val="2CC5B0"/>
            </a:solidFill>
            <a:prstDash val="solid"/>
          </a:ln>
        </p:spPr>
      </p:sp>
      <p:sp>
        <p:nvSpPr>
          <p:cNvPr id="28" name="step number 5"/>
          <p:cNvSpPr txBox="1"/>
          <p:nvPr/>
        </p:nvSpPr>
        <p:spPr>
          <a:xfrm>
            <a:off x="10360152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C5B0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step card 5"/>
          <p:cNvSpPr/>
          <p:nvPr/>
        </p:nvSpPr>
        <p:spPr>
          <a:xfrm>
            <a:off x="9582912" y="2194560"/>
            <a:ext cx="2121408" cy="1828800"/>
          </a:xfrm>
          <a:prstGeom prst="roundRect">
            <a:avLst>
              <a:gd name="adj" fmla="val 6000"/>
            </a:avLst>
          </a:prstGeom>
          <a:solidFill>
            <a:srgbClr val="151C26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0" name="step title 5"/>
          <p:cNvSpPr txBox="1"/>
          <p:nvPr/>
        </p:nvSpPr>
        <p:spPr>
          <a:xfrm>
            <a:off x="9747504" y="233172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5"/>
                </a:solidFill>
              </a:rPr>
              <a:t>Мониторинг</a:t>
            </a:r>
            <a:endParaRPr lang="en-US" sz="1500" dirty="0"/>
          </a:p>
        </p:txBody>
      </p:sp>
      <p:sp>
        <p:nvSpPr>
          <p:cNvPr id="31" name="step text 5"/>
          <p:cNvSpPr txBox="1"/>
          <p:nvPr/>
        </p:nvSpPr>
        <p:spPr>
          <a:xfrm>
            <a:off x="9747504" y="292608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A"/>
                </a:solidFill>
              </a:rPr>
              <a:t>дрейф признаков, переобучение по порогам</a:t>
            </a:r>
            <a:endParaRPr lang="en-US" sz="1200" dirty="0"/>
          </a:p>
        </p:txBody>
      </p:sp>
      <p:sp>
        <p:nvSpPr>
          <p:cNvPr id="32" name="conclusion card"/>
          <p:cNvSpPr/>
          <p:nvPr/>
        </p:nvSpPr>
        <p:spPr>
          <a:xfrm>
            <a:off x="548640" y="4343400"/>
            <a:ext cx="11109960" cy="1737360"/>
          </a:xfrm>
          <a:prstGeom prst="roundRect">
            <a:avLst>
              <a:gd name="adj" fmla="val 6316"/>
            </a:avLst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sp>
        <p:nvSpPr>
          <p:cNvPr id="33" name="conclusion icon circle"/>
          <p:cNvSpPr/>
          <p:nvPr/>
        </p:nvSpPr>
        <p:spPr>
          <a:xfrm>
            <a:off x="822960" y="4846320"/>
            <a:ext cx="731520" cy="731520"/>
          </a:xfrm>
          <a:prstGeom prst="ellipse">
            <a:avLst/>
          </a:prstGeom>
          <a:solidFill>
            <a:srgbClr val="1C2532"/>
          </a:solidFill>
          <a:ln w="9525">
            <a:solidFill>
              <a:srgbClr val="2A3647"/>
            </a:solidFill>
            <a:prstDash val="solid"/>
          </a:ln>
        </p:spPr>
      </p:sp>
      <p:pic>
        <p:nvPicPr>
          <p:cNvPr id="34" name="conclus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5007254"/>
            <a:ext cx="409651" cy="409651"/>
          </a:xfrm>
          <a:prstGeom prst="rect">
            <a:avLst/>
          </a:prstGeom>
        </p:spPr>
      </p:pic>
      <p:sp>
        <p:nvSpPr>
          <p:cNvPr id="35" name="conclusion title"/>
          <p:cNvSpPr txBox="1"/>
          <p:nvPr/>
        </p:nvSpPr>
        <p:spPr>
          <a:xfrm>
            <a:off x="1783080" y="4526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C5B0"/>
                </a:solidFill>
              </a:rPr>
              <a:t>Вывод</a:t>
            </a:r>
            <a:endParaRPr lang="en-US" sz="1800" dirty="0"/>
          </a:p>
        </p:txBody>
      </p:sp>
      <p:sp>
        <p:nvSpPr>
          <p:cNvPr id="36" name="conclusion text"/>
          <p:cNvSpPr txBox="1"/>
          <p:nvPr/>
        </p:nvSpPr>
        <p:spPr>
          <a:xfrm>
            <a:off x="1783080" y="4937760"/>
            <a:ext cx="9646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</a:rPr>
              <a:t>Работающий объяснимый прототип: API, дашборд, 45 тестов, воспроизводимый эксперимент, стресс-тесты. На синтетике — ROC-AUC 0,990 и в 65 раз меньше ложных тревог, чем у правил. Мы не говорим, что система готова для банка — мы показываем, как это проверить и по каким критериям идти дальше.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oShield Graphite">
  <a:themeElements>
    <a:clrScheme name="NeuroShield Graphite">
      <a:dk1>
        <a:srgbClr val="0B1016"/>
      </a:dk1>
      <a:lt1>
        <a:srgbClr val="E6EDF5"/>
      </a:lt1>
      <a:dk2>
        <a:srgbClr val="151C26"/>
      </a:dk2>
      <a:lt2>
        <a:srgbClr val="9AA8BA"/>
      </a:lt2>
      <a:accent1>
        <a:srgbClr val="2CC5B0"/>
      </a:accent1>
      <a:accent2>
        <a:srgbClr val="3987E5"/>
      </a:accent2>
      <a:accent3>
        <a:srgbClr val="D95926"/>
      </a:accent3>
      <a:accent4>
        <a:srgbClr val="FAB219"/>
      </a:accent4>
      <a:accent5>
        <a:srgbClr val="E05252"/>
      </a:accent5>
      <a:accent6>
        <a:srgbClr val="0CA30C"/>
      </a:accent6>
      <a:hlink>
        <a:srgbClr val="4C8DFF"/>
      </a:hlink>
      <a:folHlink>
        <a:srgbClr val="9085E9"/>
      </a:folHlink>
    </a:clrScheme>
    <a:fontScheme name="NeuroShield Graphi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NeuroShield API</dc:title>
  <dc:subject>PptxGenJS Presentation</dc:subject>
  <dc:creator>NeuroShield team</dc:creator>
  <cp:lastModifiedBy>NeuroShield team</cp:lastModifiedBy>
  <cp:revision>1</cp:revision>
  <dcterms:created xsi:type="dcterms:W3CDTF">2026-10-14T18:35:20Z</dcterms:created>
  <dcterms:modified xsi:type="dcterms:W3CDTF">2026-10-14T18:35:20Z</dcterms:modified>
</cp:coreProperties>
</file>